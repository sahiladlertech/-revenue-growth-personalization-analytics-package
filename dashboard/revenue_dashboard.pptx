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4" r:id="rId3"/>
    <p:sldId id="265" r:id="rId4"/>
    <p:sldId id="266" r:id="rId5"/>
    <p:sldId id="267" r:id="rId6"/>
    <p:sldId id="257" r:id="rId7"/>
    <p:sldId id="258" r:id="rId8"/>
    <p:sldId id="259" r:id="rId9"/>
    <p:sldId id="260" r:id="rId10"/>
    <p:sldId id="261" r:id="rId11"/>
    <p:sldId id="262" r:id="rId12"/>
    <p:sldId id="263"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070D"/>
    <a:srgbClr val="2D2D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25" d="100"/>
          <a:sy n="125" d="100"/>
        </p:scale>
        <p:origin x="78" y="-65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6047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28090"/>
          </a:solidFill>
          <a:ln w="12700">
            <a:solidFill>
              <a:srgbClr val="028090"/>
            </a:solidFill>
            <a:prstDash val="solid"/>
          </a:ln>
        </p:spPr>
      </p:sp>
      <p:sp>
        <p:nvSpPr>
          <p:cNvPr id="3" name="Text 1"/>
          <p:cNvSpPr/>
          <p:nvPr/>
        </p:nvSpPr>
        <p:spPr>
          <a:xfrm>
            <a:off x="594360" y="1188720"/>
            <a:ext cx="7772400" cy="77724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Revenue Growth &amp;</a:t>
            </a:r>
            <a:endParaRPr lang="en-US" sz="4000" dirty="0"/>
          </a:p>
        </p:txBody>
      </p:sp>
      <p:sp>
        <p:nvSpPr>
          <p:cNvPr id="4" name="Text 2"/>
          <p:cNvSpPr/>
          <p:nvPr/>
        </p:nvSpPr>
        <p:spPr>
          <a:xfrm>
            <a:off x="594360" y="1920240"/>
            <a:ext cx="7772400" cy="777240"/>
          </a:xfrm>
          <a:prstGeom prst="rect">
            <a:avLst/>
          </a:prstGeom>
          <a:noFill/>
          <a:ln/>
        </p:spPr>
        <p:txBody>
          <a:bodyPr wrap="square" rtlCol="0" anchor="ctr"/>
          <a:lstStyle/>
          <a:p>
            <a:pPr marL="0" indent="0">
              <a:buNone/>
            </a:pPr>
            <a:r>
              <a:rPr lang="en-US" sz="4000" b="1" dirty="0">
                <a:solidFill>
                  <a:srgbClr val="02C39A"/>
                </a:solidFill>
                <a:latin typeface="Calibri" pitchFamily="34" charset="0"/>
                <a:ea typeface="Calibri" pitchFamily="34" charset="-122"/>
                <a:cs typeface="Calibri" pitchFamily="34" charset="-120"/>
              </a:rPr>
              <a:t>Personalization Analytics</a:t>
            </a:r>
            <a:endParaRPr lang="en-US" sz="4000" dirty="0"/>
          </a:p>
        </p:txBody>
      </p:sp>
      <p:sp>
        <p:nvSpPr>
          <p:cNvPr id="5" name="Text 3"/>
          <p:cNvSpPr/>
          <p:nvPr/>
        </p:nvSpPr>
        <p:spPr>
          <a:xfrm>
            <a:off x="594360" y="2651760"/>
            <a:ext cx="7772400" cy="64008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Dashboard</a:t>
            </a:r>
            <a:endParaRPr lang="en-US" sz="4000" dirty="0"/>
          </a:p>
        </p:txBody>
      </p:sp>
      <p:sp>
        <p:nvSpPr>
          <p:cNvPr id="6" name="Text 4"/>
          <p:cNvSpPr/>
          <p:nvPr/>
        </p:nvSpPr>
        <p:spPr>
          <a:xfrm>
            <a:off x="594360" y="3429000"/>
            <a:ext cx="8046720" cy="411480"/>
          </a:xfrm>
          <a:prstGeom prst="rect">
            <a:avLst/>
          </a:prstGeom>
          <a:noFill/>
          <a:ln/>
        </p:spPr>
        <p:txBody>
          <a:bodyPr wrap="square" rtlCol="0" anchor="ctr"/>
          <a:lstStyle/>
          <a:p>
            <a:r>
              <a:rPr lang="en-US" sz="1500" i="1" dirty="0">
                <a:solidFill>
                  <a:srgbClr val="A0AEC0"/>
                </a:solidFill>
                <a:latin typeface="Calibri" pitchFamily="34" charset="0"/>
                <a:ea typeface="Calibri" pitchFamily="34" charset="-122"/>
                <a:cs typeface="Calibri" pitchFamily="34" charset="-120"/>
              </a:rPr>
              <a:t>Sales Forecast · Customer Segments · Product Recommendation System · Product &amp; Country Revenue</a:t>
            </a:r>
            <a:endParaRPr lang="en-US" sz="1500" dirty="0"/>
          </a:p>
        </p:txBody>
      </p:sp>
      <p:sp>
        <p:nvSpPr>
          <p:cNvPr id="7" name="Shape 5"/>
          <p:cNvSpPr/>
          <p:nvPr/>
        </p:nvSpPr>
        <p:spPr>
          <a:xfrm>
            <a:off x="594360" y="4069080"/>
            <a:ext cx="1920240" cy="347472"/>
          </a:xfrm>
          <a:prstGeom prst="rect">
            <a:avLst/>
          </a:prstGeom>
          <a:solidFill>
            <a:srgbClr val="028090">
              <a:alpha val="70000"/>
            </a:srgbClr>
          </a:solidFill>
          <a:ln w="12700">
            <a:solidFill>
              <a:srgbClr val="028090"/>
            </a:solidFill>
            <a:prstDash val="solid"/>
          </a:ln>
        </p:spPr>
      </p:sp>
      <p:sp>
        <p:nvSpPr>
          <p:cNvPr id="8" name="Text 6"/>
          <p:cNvSpPr/>
          <p:nvPr/>
        </p:nvSpPr>
        <p:spPr>
          <a:xfrm>
            <a:off x="594360" y="4069080"/>
            <a:ext cx="1920240" cy="347472"/>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Prophet Forecasting</a:t>
            </a:r>
            <a:endParaRPr lang="en-US" sz="1100" dirty="0"/>
          </a:p>
        </p:txBody>
      </p:sp>
      <p:sp>
        <p:nvSpPr>
          <p:cNvPr id="9" name="Shape 7"/>
          <p:cNvSpPr/>
          <p:nvPr/>
        </p:nvSpPr>
        <p:spPr>
          <a:xfrm>
            <a:off x="2743200" y="4069080"/>
            <a:ext cx="1920240" cy="347472"/>
          </a:xfrm>
          <a:prstGeom prst="rect">
            <a:avLst/>
          </a:prstGeom>
          <a:solidFill>
            <a:srgbClr val="028090">
              <a:alpha val="70000"/>
            </a:srgbClr>
          </a:solidFill>
          <a:ln w="12700">
            <a:solidFill>
              <a:srgbClr val="028090"/>
            </a:solidFill>
            <a:prstDash val="solid"/>
          </a:ln>
        </p:spPr>
      </p:sp>
      <p:sp>
        <p:nvSpPr>
          <p:cNvPr id="10" name="Text 8"/>
          <p:cNvSpPr/>
          <p:nvPr/>
        </p:nvSpPr>
        <p:spPr>
          <a:xfrm>
            <a:off x="2743200" y="4069080"/>
            <a:ext cx="1920240" cy="347472"/>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RFM Segmentation</a:t>
            </a:r>
            <a:endParaRPr lang="en-US" sz="1100" dirty="0"/>
          </a:p>
        </p:txBody>
      </p:sp>
      <p:sp>
        <p:nvSpPr>
          <p:cNvPr id="11" name="Shape 9"/>
          <p:cNvSpPr/>
          <p:nvPr/>
        </p:nvSpPr>
        <p:spPr>
          <a:xfrm>
            <a:off x="4892040" y="4069080"/>
            <a:ext cx="1920240" cy="347472"/>
          </a:xfrm>
          <a:prstGeom prst="rect">
            <a:avLst/>
          </a:prstGeom>
          <a:solidFill>
            <a:srgbClr val="028090">
              <a:alpha val="70000"/>
            </a:srgbClr>
          </a:solidFill>
          <a:ln w="12700">
            <a:solidFill>
              <a:srgbClr val="028090"/>
            </a:solidFill>
            <a:prstDash val="solid"/>
          </a:ln>
        </p:spPr>
      </p:sp>
      <p:sp>
        <p:nvSpPr>
          <p:cNvPr id="12" name="Text 10"/>
          <p:cNvSpPr/>
          <p:nvPr/>
        </p:nvSpPr>
        <p:spPr>
          <a:xfrm>
            <a:off x="4892040" y="4069080"/>
            <a:ext cx="1920240" cy="347472"/>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20K Customers</a:t>
            </a:r>
            <a:endParaRPr lang="en-US" sz="1100" dirty="0"/>
          </a:p>
        </p:txBody>
      </p:sp>
      <p:sp>
        <p:nvSpPr>
          <p:cNvPr id="13" name="Shape 11"/>
          <p:cNvSpPr/>
          <p:nvPr/>
        </p:nvSpPr>
        <p:spPr>
          <a:xfrm>
            <a:off x="7040880" y="4069080"/>
            <a:ext cx="1920240" cy="347472"/>
          </a:xfrm>
          <a:prstGeom prst="rect">
            <a:avLst/>
          </a:prstGeom>
          <a:solidFill>
            <a:srgbClr val="028090">
              <a:alpha val="70000"/>
            </a:srgbClr>
          </a:solidFill>
          <a:ln w="12700">
            <a:solidFill>
              <a:srgbClr val="028090"/>
            </a:solidFill>
            <a:prstDash val="solid"/>
          </a:ln>
        </p:spPr>
      </p:sp>
      <p:sp>
        <p:nvSpPr>
          <p:cNvPr id="14" name="Text 12"/>
          <p:cNvSpPr/>
          <p:nvPr/>
        </p:nvSpPr>
        <p:spPr>
          <a:xfrm>
            <a:off x="7040880" y="4069080"/>
            <a:ext cx="1920240" cy="347472"/>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33.5K Orders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7EF0311-3A92-8D24-1892-DDE3D39A1315}"/>
              </a:ext>
            </a:extLst>
          </p:cNvPr>
          <p:cNvSpPr/>
          <p:nvPr/>
        </p:nvSpPr>
        <p:spPr>
          <a:xfrm>
            <a:off x="0" y="0"/>
            <a:ext cx="9144000" cy="658368"/>
          </a:xfrm>
          <a:prstGeom prst="rect">
            <a:avLst/>
          </a:prstGeom>
          <a:solidFill>
            <a:srgbClr val="0D1B3E"/>
          </a:solidFill>
          <a:ln w="12700">
            <a:solidFill>
              <a:srgbClr val="0D1B3E"/>
            </a:solidFill>
            <a:prstDash val="solid"/>
          </a:ln>
        </p:spPr>
      </p:sp>
      <p:sp>
        <p:nvSpPr>
          <p:cNvPr id="3" name="Text 1">
            <a:extLst>
              <a:ext uri="{FF2B5EF4-FFF2-40B4-BE49-F238E27FC236}">
                <a16:creationId xmlns:a16="http://schemas.microsoft.com/office/drawing/2014/main" id="{DC3F151D-C5EF-2BA2-8FCF-C368B7B7C3FD}"/>
              </a:ext>
            </a:extLst>
          </p:cNvPr>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Project Overview</a:t>
            </a:r>
            <a:endParaRPr lang="en-US" sz="2200" dirty="0"/>
          </a:p>
        </p:txBody>
      </p:sp>
      <p:sp>
        <p:nvSpPr>
          <p:cNvPr id="4" name="Shape 2">
            <a:extLst>
              <a:ext uri="{FF2B5EF4-FFF2-40B4-BE49-F238E27FC236}">
                <a16:creationId xmlns:a16="http://schemas.microsoft.com/office/drawing/2014/main" id="{6F148947-A408-135D-172D-713CE19D8DFB}"/>
              </a:ext>
            </a:extLst>
          </p:cNvPr>
          <p:cNvSpPr/>
          <p:nvPr/>
        </p:nvSpPr>
        <p:spPr>
          <a:xfrm>
            <a:off x="274320" y="822960"/>
            <a:ext cx="8595360" cy="960120"/>
          </a:xfrm>
          <a:prstGeom prst="rect">
            <a:avLst/>
          </a:prstGeom>
          <a:solidFill>
            <a:srgbClr val="FFFFFF"/>
          </a:solidFill>
          <a:ln w="12700">
            <a:solidFill>
              <a:srgbClr val="E2E8F0"/>
            </a:solidFill>
            <a:prstDash val="solid"/>
          </a:ln>
          <a:effectLst>
            <a:outerShdw blurRad="127000" dist="25400" dir="8100000" algn="bl" rotWithShape="0">
              <a:srgbClr val="000000">
                <a:alpha val="8000"/>
              </a:srgbClr>
            </a:outerShdw>
          </a:effectLst>
        </p:spPr>
      </p:sp>
      <p:sp>
        <p:nvSpPr>
          <p:cNvPr id="5" name="Shape 3">
            <a:extLst>
              <a:ext uri="{FF2B5EF4-FFF2-40B4-BE49-F238E27FC236}">
                <a16:creationId xmlns:a16="http://schemas.microsoft.com/office/drawing/2014/main" id="{F7929FD5-F053-425A-B7B2-6563F7C3E324}"/>
              </a:ext>
            </a:extLst>
          </p:cNvPr>
          <p:cNvSpPr/>
          <p:nvPr/>
        </p:nvSpPr>
        <p:spPr>
          <a:xfrm>
            <a:off x="274320" y="822960"/>
            <a:ext cx="8595360" cy="64008"/>
          </a:xfrm>
          <a:prstGeom prst="rect">
            <a:avLst/>
          </a:prstGeom>
          <a:solidFill>
            <a:srgbClr val="028090"/>
          </a:solidFill>
          <a:ln w="12700">
            <a:solidFill>
              <a:srgbClr val="028090"/>
            </a:solidFill>
            <a:prstDash val="solid"/>
          </a:ln>
        </p:spPr>
      </p:sp>
      <p:sp>
        <p:nvSpPr>
          <p:cNvPr id="6" name="Text 4">
            <a:extLst>
              <a:ext uri="{FF2B5EF4-FFF2-40B4-BE49-F238E27FC236}">
                <a16:creationId xmlns:a16="http://schemas.microsoft.com/office/drawing/2014/main" id="{4378D0F9-7FE4-C161-4F98-4637474CD6F5}"/>
              </a:ext>
            </a:extLst>
          </p:cNvPr>
          <p:cNvSpPr/>
          <p:nvPr/>
        </p:nvSpPr>
        <p:spPr>
          <a:xfrm>
            <a:off x="475488" y="896112"/>
            <a:ext cx="8229600" cy="274320"/>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Objective</a:t>
            </a:r>
            <a:endParaRPr lang="en-US" sz="1200" dirty="0"/>
          </a:p>
        </p:txBody>
      </p:sp>
      <p:sp>
        <p:nvSpPr>
          <p:cNvPr id="7" name="Text 5">
            <a:extLst>
              <a:ext uri="{FF2B5EF4-FFF2-40B4-BE49-F238E27FC236}">
                <a16:creationId xmlns:a16="http://schemas.microsoft.com/office/drawing/2014/main" id="{1DC6C3BE-DA13-ACE5-A33C-9C3A546D4DDB}"/>
              </a:ext>
            </a:extLst>
          </p:cNvPr>
          <p:cNvSpPr/>
          <p:nvPr/>
        </p:nvSpPr>
        <p:spPr>
          <a:xfrm>
            <a:off x="475488" y="1188720"/>
            <a:ext cx="8229600"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Build an end-to-end e-commerce analytics platform: clean raw data, engineer RFM customer features and product features, segment customers via KMeans, generate personalized product recommendations using LightFM collaborative filtering, forecast daily revenue with Facebook Prophet, and surface all insights in a live interactive Streamlit dashboard.</a:t>
            </a:r>
            <a:endParaRPr lang="en-US" sz="1050" dirty="0"/>
          </a:p>
        </p:txBody>
      </p:sp>
      <p:sp>
        <p:nvSpPr>
          <p:cNvPr id="8" name="Shape 6">
            <a:extLst>
              <a:ext uri="{FF2B5EF4-FFF2-40B4-BE49-F238E27FC236}">
                <a16:creationId xmlns:a16="http://schemas.microsoft.com/office/drawing/2014/main" id="{A6EE47F3-3E35-5E01-D423-CA4D4CC4497C}"/>
              </a:ext>
            </a:extLst>
          </p:cNvPr>
          <p:cNvSpPr/>
          <p:nvPr/>
        </p:nvSpPr>
        <p:spPr>
          <a:xfrm>
            <a:off x="685800" y="1883664"/>
            <a:ext cx="457200" cy="457200"/>
          </a:xfrm>
          <a:prstGeom prst="ellipse">
            <a:avLst/>
          </a:prstGeom>
          <a:solidFill>
            <a:srgbClr val="028090"/>
          </a:solidFill>
          <a:ln w="12700">
            <a:solidFill>
              <a:srgbClr val="028090"/>
            </a:solidFill>
            <a:prstDash val="solid"/>
          </a:ln>
        </p:spPr>
      </p:sp>
      <p:sp>
        <p:nvSpPr>
          <p:cNvPr id="9" name="Text 7">
            <a:extLst>
              <a:ext uri="{FF2B5EF4-FFF2-40B4-BE49-F238E27FC236}">
                <a16:creationId xmlns:a16="http://schemas.microsoft.com/office/drawing/2014/main" id="{9BDB631D-3A63-CBCF-F6E4-EF33247FEC10}"/>
              </a:ext>
            </a:extLst>
          </p:cNvPr>
          <p:cNvSpPr/>
          <p:nvPr/>
        </p:nvSpPr>
        <p:spPr>
          <a:xfrm>
            <a:off x="685800" y="188366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Shape 8">
            <a:extLst>
              <a:ext uri="{FF2B5EF4-FFF2-40B4-BE49-F238E27FC236}">
                <a16:creationId xmlns:a16="http://schemas.microsoft.com/office/drawing/2014/main" id="{74DADDDA-9BE8-5AEA-5612-BE2F4D96B353}"/>
              </a:ext>
            </a:extLst>
          </p:cNvPr>
          <p:cNvSpPr/>
          <p:nvPr/>
        </p:nvSpPr>
        <p:spPr>
          <a:xfrm>
            <a:off x="274320" y="2167128"/>
            <a:ext cx="1280160" cy="1051560"/>
          </a:xfrm>
          <a:prstGeom prst="rect">
            <a:avLst/>
          </a:prstGeom>
          <a:solidFill>
            <a:srgbClr val="028090">
              <a:alpha val="80000"/>
            </a:srgbClr>
          </a:solidFill>
          <a:ln w="12700">
            <a:solidFill>
              <a:srgbClr val="028090"/>
            </a:solidFill>
            <a:prstDash val="solid"/>
          </a:ln>
        </p:spPr>
        <p:txBody>
          <a:bodyPr/>
          <a:lstStyle/>
          <a:p>
            <a:endParaRPr lang="en-IN" dirty="0"/>
          </a:p>
        </p:txBody>
      </p:sp>
      <p:sp>
        <p:nvSpPr>
          <p:cNvPr id="11" name="Text 9">
            <a:extLst>
              <a:ext uri="{FF2B5EF4-FFF2-40B4-BE49-F238E27FC236}">
                <a16:creationId xmlns:a16="http://schemas.microsoft.com/office/drawing/2014/main" id="{AA8B9B9F-DAC2-8DB4-0BBA-29EC9EDD79AF}"/>
              </a:ext>
            </a:extLst>
          </p:cNvPr>
          <p:cNvSpPr/>
          <p:nvPr/>
        </p:nvSpPr>
        <p:spPr>
          <a:xfrm>
            <a:off x="274320" y="2075688"/>
            <a:ext cx="1280160" cy="11430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Data</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Cleaning</a:t>
            </a:r>
            <a:endParaRPr lang="en-US" sz="1050" dirty="0"/>
          </a:p>
        </p:txBody>
      </p:sp>
      <p:sp>
        <p:nvSpPr>
          <p:cNvPr id="12" name="Shape 10">
            <a:extLst>
              <a:ext uri="{FF2B5EF4-FFF2-40B4-BE49-F238E27FC236}">
                <a16:creationId xmlns:a16="http://schemas.microsoft.com/office/drawing/2014/main" id="{2E4362BD-7939-FA8D-A4FC-86152C18C736}"/>
              </a:ext>
            </a:extLst>
          </p:cNvPr>
          <p:cNvSpPr/>
          <p:nvPr/>
        </p:nvSpPr>
        <p:spPr>
          <a:xfrm>
            <a:off x="1554480" y="2651760"/>
            <a:ext cx="182880" cy="0"/>
          </a:xfrm>
          <a:prstGeom prst="line">
            <a:avLst/>
          </a:prstGeom>
          <a:noFill/>
          <a:ln w="19050">
            <a:solidFill>
              <a:srgbClr val="64748B"/>
            </a:solidFill>
            <a:prstDash val="sysDash"/>
          </a:ln>
        </p:spPr>
      </p:sp>
      <p:sp>
        <p:nvSpPr>
          <p:cNvPr id="13" name="Shape 11">
            <a:extLst>
              <a:ext uri="{FF2B5EF4-FFF2-40B4-BE49-F238E27FC236}">
                <a16:creationId xmlns:a16="http://schemas.microsoft.com/office/drawing/2014/main" id="{7C7C2B67-2D40-AD1E-C288-1F32C7F2E36F}"/>
              </a:ext>
            </a:extLst>
          </p:cNvPr>
          <p:cNvSpPr/>
          <p:nvPr/>
        </p:nvSpPr>
        <p:spPr>
          <a:xfrm>
            <a:off x="2148840" y="1883664"/>
            <a:ext cx="457200" cy="457200"/>
          </a:xfrm>
          <a:prstGeom prst="ellipse">
            <a:avLst/>
          </a:prstGeom>
          <a:solidFill>
            <a:srgbClr val="6C63FF"/>
          </a:solidFill>
          <a:ln w="12700">
            <a:solidFill>
              <a:srgbClr val="6C63FF"/>
            </a:solidFill>
            <a:prstDash val="solid"/>
          </a:ln>
        </p:spPr>
      </p:sp>
      <p:sp>
        <p:nvSpPr>
          <p:cNvPr id="14" name="Text 12">
            <a:extLst>
              <a:ext uri="{FF2B5EF4-FFF2-40B4-BE49-F238E27FC236}">
                <a16:creationId xmlns:a16="http://schemas.microsoft.com/office/drawing/2014/main" id="{C78488CD-404D-423F-AB80-5340F435B509}"/>
              </a:ext>
            </a:extLst>
          </p:cNvPr>
          <p:cNvSpPr/>
          <p:nvPr/>
        </p:nvSpPr>
        <p:spPr>
          <a:xfrm>
            <a:off x="2148840" y="188366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Shape 13">
            <a:extLst>
              <a:ext uri="{FF2B5EF4-FFF2-40B4-BE49-F238E27FC236}">
                <a16:creationId xmlns:a16="http://schemas.microsoft.com/office/drawing/2014/main" id="{77C66E5C-55BD-E8E0-EBDC-F71DA4EC5D25}"/>
              </a:ext>
            </a:extLst>
          </p:cNvPr>
          <p:cNvSpPr/>
          <p:nvPr/>
        </p:nvSpPr>
        <p:spPr>
          <a:xfrm>
            <a:off x="1737360" y="2167128"/>
            <a:ext cx="1280160" cy="1051560"/>
          </a:xfrm>
          <a:prstGeom prst="rect">
            <a:avLst/>
          </a:prstGeom>
          <a:solidFill>
            <a:srgbClr val="6C63FF">
              <a:alpha val="80000"/>
            </a:srgbClr>
          </a:solidFill>
          <a:ln w="12700">
            <a:solidFill>
              <a:srgbClr val="6C63FF"/>
            </a:solidFill>
            <a:prstDash val="solid"/>
          </a:ln>
        </p:spPr>
      </p:sp>
      <p:sp>
        <p:nvSpPr>
          <p:cNvPr id="16" name="Text 14">
            <a:extLst>
              <a:ext uri="{FF2B5EF4-FFF2-40B4-BE49-F238E27FC236}">
                <a16:creationId xmlns:a16="http://schemas.microsoft.com/office/drawing/2014/main" id="{713234C7-4FD8-E0D6-333E-1855797B862E}"/>
              </a:ext>
            </a:extLst>
          </p:cNvPr>
          <p:cNvSpPr/>
          <p:nvPr/>
        </p:nvSpPr>
        <p:spPr>
          <a:xfrm>
            <a:off x="1737360" y="2075688"/>
            <a:ext cx="1280160" cy="11430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Feature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Engineering</a:t>
            </a:r>
            <a:endParaRPr lang="en-US" sz="1050" dirty="0"/>
          </a:p>
        </p:txBody>
      </p:sp>
      <p:sp>
        <p:nvSpPr>
          <p:cNvPr id="17" name="Shape 15">
            <a:extLst>
              <a:ext uri="{FF2B5EF4-FFF2-40B4-BE49-F238E27FC236}">
                <a16:creationId xmlns:a16="http://schemas.microsoft.com/office/drawing/2014/main" id="{96EC701F-BD65-7450-71DA-9CAA99F9DFD8}"/>
              </a:ext>
            </a:extLst>
          </p:cNvPr>
          <p:cNvSpPr/>
          <p:nvPr/>
        </p:nvSpPr>
        <p:spPr>
          <a:xfrm>
            <a:off x="3017520" y="2651760"/>
            <a:ext cx="182880" cy="0"/>
          </a:xfrm>
          <a:prstGeom prst="line">
            <a:avLst/>
          </a:prstGeom>
          <a:noFill/>
          <a:ln w="19050">
            <a:solidFill>
              <a:srgbClr val="64748B"/>
            </a:solidFill>
            <a:prstDash val="sysDash"/>
          </a:ln>
        </p:spPr>
      </p:sp>
      <p:sp>
        <p:nvSpPr>
          <p:cNvPr id="18" name="Shape 16">
            <a:extLst>
              <a:ext uri="{FF2B5EF4-FFF2-40B4-BE49-F238E27FC236}">
                <a16:creationId xmlns:a16="http://schemas.microsoft.com/office/drawing/2014/main" id="{55179A62-D9A8-BE1C-C796-998B14301CE1}"/>
              </a:ext>
            </a:extLst>
          </p:cNvPr>
          <p:cNvSpPr/>
          <p:nvPr/>
        </p:nvSpPr>
        <p:spPr>
          <a:xfrm>
            <a:off x="3611880" y="1883664"/>
            <a:ext cx="457200" cy="457200"/>
          </a:xfrm>
          <a:prstGeom prst="ellipse">
            <a:avLst/>
          </a:prstGeom>
          <a:solidFill>
            <a:srgbClr val="F4A261"/>
          </a:solidFill>
          <a:ln w="12700">
            <a:solidFill>
              <a:srgbClr val="F4A261"/>
            </a:solidFill>
            <a:prstDash val="solid"/>
          </a:ln>
        </p:spPr>
      </p:sp>
      <p:sp>
        <p:nvSpPr>
          <p:cNvPr id="19" name="Text 17">
            <a:extLst>
              <a:ext uri="{FF2B5EF4-FFF2-40B4-BE49-F238E27FC236}">
                <a16:creationId xmlns:a16="http://schemas.microsoft.com/office/drawing/2014/main" id="{F2F938BB-8BE2-CE42-6AAA-3F9786A67C8B}"/>
              </a:ext>
            </a:extLst>
          </p:cNvPr>
          <p:cNvSpPr/>
          <p:nvPr/>
        </p:nvSpPr>
        <p:spPr>
          <a:xfrm>
            <a:off x="3611880" y="188366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Shape 18">
            <a:extLst>
              <a:ext uri="{FF2B5EF4-FFF2-40B4-BE49-F238E27FC236}">
                <a16:creationId xmlns:a16="http://schemas.microsoft.com/office/drawing/2014/main" id="{A0D2A209-B0B8-38F9-3F6E-2DC7BC33B72C}"/>
              </a:ext>
            </a:extLst>
          </p:cNvPr>
          <p:cNvSpPr/>
          <p:nvPr/>
        </p:nvSpPr>
        <p:spPr>
          <a:xfrm>
            <a:off x="3200400" y="2167128"/>
            <a:ext cx="1280160" cy="1051560"/>
          </a:xfrm>
          <a:prstGeom prst="rect">
            <a:avLst/>
          </a:prstGeom>
          <a:solidFill>
            <a:srgbClr val="F4A261">
              <a:alpha val="80000"/>
            </a:srgbClr>
          </a:solidFill>
          <a:ln w="12700">
            <a:solidFill>
              <a:srgbClr val="F4A261"/>
            </a:solidFill>
            <a:prstDash val="solid"/>
          </a:ln>
        </p:spPr>
      </p:sp>
      <p:sp>
        <p:nvSpPr>
          <p:cNvPr id="21" name="Text 19">
            <a:extLst>
              <a:ext uri="{FF2B5EF4-FFF2-40B4-BE49-F238E27FC236}">
                <a16:creationId xmlns:a16="http://schemas.microsoft.com/office/drawing/2014/main" id="{D6E5D128-944A-E532-2AC8-99E66A904CF4}"/>
              </a:ext>
            </a:extLst>
          </p:cNvPr>
          <p:cNvSpPr/>
          <p:nvPr/>
        </p:nvSpPr>
        <p:spPr>
          <a:xfrm>
            <a:off x="3200400" y="2075688"/>
            <a:ext cx="1280160" cy="11430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RFM</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Segmentation</a:t>
            </a:r>
            <a:endParaRPr lang="en-US" sz="1050" dirty="0"/>
          </a:p>
        </p:txBody>
      </p:sp>
      <p:sp>
        <p:nvSpPr>
          <p:cNvPr id="22" name="Shape 20">
            <a:extLst>
              <a:ext uri="{FF2B5EF4-FFF2-40B4-BE49-F238E27FC236}">
                <a16:creationId xmlns:a16="http://schemas.microsoft.com/office/drawing/2014/main" id="{84D55600-9962-DFB6-85A1-83BCCA1BAD8F}"/>
              </a:ext>
            </a:extLst>
          </p:cNvPr>
          <p:cNvSpPr/>
          <p:nvPr/>
        </p:nvSpPr>
        <p:spPr>
          <a:xfrm>
            <a:off x="4480560" y="2651760"/>
            <a:ext cx="182880" cy="0"/>
          </a:xfrm>
          <a:prstGeom prst="line">
            <a:avLst/>
          </a:prstGeom>
          <a:noFill/>
          <a:ln w="19050">
            <a:solidFill>
              <a:srgbClr val="64748B"/>
            </a:solidFill>
            <a:prstDash val="sysDash"/>
          </a:ln>
        </p:spPr>
      </p:sp>
      <p:sp>
        <p:nvSpPr>
          <p:cNvPr id="23" name="Shape 21">
            <a:extLst>
              <a:ext uri="{FF2B5EF4-FFF2-40B4-BE49-F238E27FC236}">
                <a16:creationId xmlns:a16="http://schemas.microsoft.com/office/drawing/2014/main" id="{25C301AE-0A34-735A-26CC-95B9F1C5CEFE}"/>
              </a:ext>
            </a:extLst>
          </p:cNvPr>
          <p:cNvSpPr/>
          <p:nvPr/>
        </p:nvSpPr>
        <p:spPr>
          <a:xfrm>
            <a:off x="5074920" y="1883664"/>
            <a:ext cx="457200" cy="457200"/>
          </a:xfrm>
          <a:prstGeom prst="ellipse">
            <a:avLst/>
          </a:prstGeom>
          <a:solidFill>
            <a:srgbClr val="02C39A"/>
          </a:solidFill>
          <a:ln w="12700">
            <a:solidFill>
              <a:srgbClr val="02C39A"/>
            </a:solidFill>
            <a:prstDash val="solid"/>
          </a:ln>
        </p:spPr>
      </p:sp>
      <p:sp>
        <p:nvSpPr>
          <p:cNvPr id="24" name="Text 22">
            <a:extLst>
              <a:ext uri="{FF2B5EF4-FFF2-40B4-BE49-F238E27FC236}">
                <a16:creationId xmlns:a16="http://schemas.microsoft.com/office/drawing/2014/main" id="{521E5E7C-6747-D546-8A28-5302E037B7E5}"/>
              </a:ext>
            </a:extLst>
          </p:cNvPr>
          <p:cNvSpPr/>
          <p:nvPr/>
        </p:nvSpPr>
        <p:spPr>
          <a:xfrm>
            <a:off x="5074920" y="188366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Shape 23">
            <a:extLst>
              <a:ext uri="{FF2B5EF4-FFF2-40B4-BE49-F238E27FC236}">
                <a16:creationId xmlns:a16="http://schemas.microsoft.com/office/drawing/2014/main" id="{9996147A-B13C-1319-C2C7-BE91921B3D74}"/>
              </a:ext>
            </a:extLst>
          </p:cNvPr>
          <p:cNvSpPr/>
          <p:nvPr/>
        </p:nvSpPr>
        <p:spPr>
          <a:xfrm>
            <a:off x="4663440" y="2167128"/>
            <a:ext cx="1280160" cy="1051560"/>
          </a:xfrm>
          <a:prstGeom prst="rect">
            <a:avLst/>
          </a:prstGeom>
          <a:solidFill>
            <a:srgbClr val="02C39A">
              <a:alpha val="80000"/>
            </a:srgbClr>
          </a:solidFill>
          <a:ln w="12700">
            <a:solidFill>
              <a:srgbClr val="02C39A"/>
            </a:solidFill>
            <a:prstDash val="solid"/>
          </a:ln>
        </p:spPr>
      </p:sp>
      <p:sp>
        <p:nvSpPr>
          <p:cNvPr id="26" name="Text 24">
            <a:extLst>
              <a:ext uri="{FF2B5EF4-FFF2-40B4-BE49-F238E27FC236}">
                <a16:creationId xmlns:a16="http://schemas.microsoft.com/office/drawing/2014/main" id="{808C348F-7C75-2D4C-2001-B585921E4508}"/>
              </a:ext>
            </a:extLst>
          </p:cNvPr>
          <p:cNvSpPr/>
          <p:nvPr/>
        </p:nvSpPr>
        <p:spPr>
          <a:xfrm>
            <a:off x="4663440" y="2075688"/>
            <a:ext cx="1280160" cy="11430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Recommendation</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Engine</a:t>
            </a:r>
            <a:endParaRPr lang="en-US" sz="1050" dirty="0"/>
          </a:p>
        </p:txBody>
      </p:sp>
      <p:sp>
        <p:nvSpPr>
          <p:cNvPr id="27" name="Shape 25">
            <a:extLst>
              <a:ext uri="{FF2B5EF4-FFF2-40B4-BE49-F238E27FC236}">
                <a16:creationId xmlns:a16="http://schemas.microsoft.com/office/drawing/2014/main" id="{B02CA896-111C-203E-60D7-E7DE4C0D5C28}"/>
              </a:ext>
            </a:extLst>
          </p:cNvPr>
          <p:cNvSpPr/>
          <p:nvPr/>
        </p:nvSpPr>
        <p:spPr>
          <a:xfrm>
            <a:off x="5943600" y="2651760"/>
            <a:ext cx="182880" cy="0"/>
          </a:xfrm>
          <a:prstGeom prst="line">
            <a:avLst/>
          </a:prstGeom>
          <a:noFill/>
          <a:ln w="19050">
            <a:solidFill>
              <a:srgbClr val="64748B"/>
            </a:solidFill>
            <a:prstDash val="sysDash"/>
          </a:ln>
        </p:spPr>
      </p:sp>
      <p:sp>
        <p:nvSpPr>
          <p:cNvPr id="28" name="Shape 26">
            <a:extLst>
              <a:ext uri="{FF2B5EF4-FFF2-40B4-BE49-F238E27FC236}">
                <a16:creationId xmlns:a16="http://schemas.microsoft.com/office/drawing/2014/main" id="{25A70C37-AE4B-0441-FC83-08668D44C1CF}"/>
              </a:ext>
            </a:extLst>
          </p:cNvPr>
          <p:cNvSpPr/>
          <p:nvPr/>
        </p:nvSpPr>
        <p:spPr>
          <a:xfrm>
            <a:off x="6537960" y="1883664"/>
            <a:ext cx="457200" cy="457200"/>
          </a:xfrm>
          <a:prstGeom prst="ellipse">
            <a:avLst/>
          </a:prstGeom>
          <a:solidFill>
            <a:srgbClr val="E76F51"/>
          </a:solidFill>
          <a:ln w="12700">
            <a:solidFill>
              <a:srgbClr val="E76F51"/>
            </a:solidFill>
            <a:prstDash val="solid"/>
          </a:ln>
        </p:spPr>
      </p:sp>
      <p:sp>
        <p:nvSpPr>
          <p:cNvPr id="29" name="Text 27">
            <a:extLst>
              <a:ext uri="{FF2B5EF4-FFF2-40B4-BE49-F238E27FC236}">
                <a16:creationId xmlns:a16="http://schemas.microsoft.com/office/drawing/2014/main" id="{93BADB8E-C3D7-C4B9-1712-05A497ECF87A}"/>
              </a:ext>
            </a:extLst>
          </p:cNvPr>
          <p:cNvSpPr/>
          <p:nvPr/>
        </p:nvSpPr>
        <p:spPr>
          <a:xfrm>
            <a:off x="6537960" y="188366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Shape 28">
            <a:extLst>
              <a:ext uri="{FF2B5EF4-FFF2-40B4-BE49-F238E27FC236}">
                <a16:creationId xmlns:a16="http://schemas.microsoft.com/office/drawing/2014/main" id="{ED068859-5649-242B-4820-D46A860540C3}"/>
              </a:ext>
            </a:extLst>
          </p:cNvPr>
          <p:cNvSpPr/>
          <p:nvPr/>
        </p:nvSpPr>
        <p:spPr>
          <a:xfrm>
            <a:off x="6126480" y="2167128"/>
            <a:ext cx="1280160" cy="1051560"/>
          </a:xfrm>
          <a:prstGeom prst="rect">
            <a:avLst/>
          </a:prstGeom>
          <a:solidFill>
            <a:srgbClr val="E76F51">
              <a:alpha val="80000"/>
            </a:srgbClr>
          </a:solidFill>
          <a:ln w="12700">
            <a:solidFill>
              <a:srgbClr val="E76F51"/>
            </a:solidFill>
            <a:prstDash val="solid"/>
          </a:ln>
        </p:spPr>
      </p:sp>
      <p:sp>
        <p:nvSpPr>
          <p:cNvPr id="31" name="Text 29">
            <a:extLst>
              <a:ext uri="{FF2B5EF4-FFF2-40B4-BE49-F238E27FC236}">
                <a16:creationId xmlns:a16="http://schemas.microsoft.com/office/drawing/2014/main" id="{C9E44BB3-77F0-F30F-8A52-8534DEFFD1CC}"/>
              </a:ext>
            </a:extLst>
          </p:cNvPr>
          <p:cNvSpPr/>
          <p:nvPr/>
        </p:nvSpPr>
        <p:spPr>
          <a:xfrm>
            <a:off x="6126480" y="2075688"/>
            <a:ext cx="1280160" cy="11430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Sales</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Forecasting</a:t>
            </a:r>
            <a:endParaRPr lang="en-US" sz="1050" dirty="0"/>
          </a:p>
        </p:txBody>
      </p:sp>
      <p:sp>
        <p:nvSpPr>
          <p:cNvPr id="32" name="Shape 30">
            <a:extLst>
              <a:ext uri="{FF2B5EF4-FFF2-40B4-BE49-F238E27FC236}">
                <a16:creationId xmlns:a16="http://schemas.microsoft.com/office/drawing/2014/main" id="{78C0CF27-B03B-0AD3-8CC6-25C242C2104D}"/>
              </a:ext>
            </a:extLst>
          </p:cNvPr>
          <p:cNvSpPr/>
          <p:nvPr/>
        </p:nvSpPr>
        <p:spPr>
          <a:xfrm>
            <a:off x="7406640" y="2651760"/>
            <a:ext cx="182880" cy="0"/>
          </a:xfrm>
          <a:prstGeom prst="line">
            <a:avLst/>
          </a:prstGeom>
          <a:noFill/>
          <a:ln w="19050">
            <a:solidFill>
              <a:srgbClr val="64748B"/>
            </a:solidFill>
            <a:prstDash val="sysDash"/>
          </a:ln>
        </p:spPr>
      </p:sp>
      <p:sp>
        <p:nvSpPr>
          <p:cNvPr id="33" name="Shape 31">
            <a:extLst>
              <a:ext uri="{FF2B5EF4-FFF2-40B4-BE49-F238E27FC236}">
                <a16:creationId xmlns:a16="http://schemas.microsoft.com/office/drawing/2014/main" id="{AC2F72BF-EC18-C917-DFB8-708C41CFC4D3}"/>
              </a:ext>
            </a:extLst>
          </p:cNvPr>
          <p:cNvSpPr/>
          <p:nvPr/>
        </p:nvSpPr>
        <p:spPr>
          <a:xfrm>
            <a:off x="8001000" y="1883664"/>
            <a:ext cx="457200" cy="457200"/>
          </a:xfrm>
          <a:prstGeom prst="ellipse">
            <a:avLst/>
          </a:prstGeom>
          <a:solidFill>
            <a:srgbClr val="185FA5"/>
          </a:solidFill>
          <a:ln w="12700">
            <a:solidFill>
              <a:srgbClr val="185FA5"/>
            </a:solidFill>
            <a:prstDash val="solid"/>
          </a:ln>
        </p:spPr>
      </p:sp>
      <p:sp>
        <p:nvSpPr>
          <p:cNvPr id="34" name="Text 32">
            <a:extLst>
              <a:ext uri="{FF2B5EF4-FFF2-40B4-BE49-F238E27FC236}">
                <a16:creationId xmlns:a16="http://schemas.microsoft.com/office/drawing/2014/main" id="{0D95DA6F-4B12-EED3-9E2C-7758FCA18DB2}"/>
              </a:ext>
            </a:extLst>
          </p:cNvPr>
          <p:cNvSpPr/>
          <p:nvPr/>
        </p:nvSpPr>
        <p:spPr>
          <a:xfrm>
            <a:off x="8001000" y="188366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5" name="Shape 33">
            <a:extLst>
              <a:ext uri="{FF2B5EF4-FFF2-40B4-BE49-F238E27FC236}">
                <a16:creationId xmlns:a16="http://schemas.microsoft.com/office/drawing/2014/main" id="{E3383C98-B3AC-D58F-2EBC-37E45C03487E}"/>
              </a:ext>
            </a:extLst>
          </p:cNvPr>
          <p:cNvSpPr/>
          <p:nvPr/>
        </p:nvSpPr>
        <p:spPr>
          <a:xfrm>
            <a:off x="7589520" y="2167128"/>
            <a:ext cx="1280160" cy="1051560"/>
          </a:xfrm>
          <a:prstGeom prst="rect">
            <a:avLst/>
          </a:prstGeom>
          <a:solidFill>
            <a:srgbClr val="185FA5">
              <a:alpha val="80000"/>
            </a:srgbClr>
          </a:solidFill>
          <a:ln w="12700">
            <a:solidFill>
              <a:srgbClr val="185FA5"/>
            </a:solidFill>
            <a:prstDash val="solid"/>
          </a:ln>
        </p:spPr>
      </p:sp>
      <p:sp>
        <p:nvSpPr>
          <p:cNvPr id="36" name="Text 34">
            <a:extLst>
              <a:ext uri="{FF2B5EF4-FFF2-40B4-BE49-F238E27FC236}">
                <a16:creationId xmlns:a16="http://schemas.microsoft.com/office/drawing/2014/main" id="{C41DA2BF-2250-3EEC-D804-0212C43C72F8}"/>
              </a:ext>
            </a:extLst>
          </p:cNvPr>
          <p:cNvSpPr/>
          <p:nvPr/>
        </p:nvSpPr>
        <p:spPr>
          <a:xfrm>
            <a:off x="7589520" y="2075688"/>
            <a:ext cx="1280160" cy="11430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Streamlit</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Dashboard</a:t>
            </a:r>
            <a:endParaRPr lang="en-US" sz="1050" dirty="0"/>
          </a:p>
        </p:txBody>
      </p:sp>
      <p:sp>
        <p:nvSpPr>
          <p:cNvPr id="37" name="Text 35">
            <a:extLst>
              <a:ext uri="{FF2B5EF4-FFF2-40B4-BE49-F238E27FC236}">
                <a16:creationId xmlns:a16="http://schemas.microsoft.com/office/drawing/2014/main" id="{F08BB1EA-E03E-C429-5440-5D793339E198}"/>
              </a:ext>
            </a:extLst>
          </p:cNvPr>
          <p:cNvSpPr/>
          <p:nvPr/>
        </p:nvSpPr>
        <p:spPr>
          <a:xfrm>
            <a:off x="274320" y="3401568"/>
            <a:ext cx="8595360" cy="256032"/>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Raw Datasets</a:t>
            </a:r>
            <a:endParaRPr lang="en-US" sz="1200" dirty="0"/>
          </a:p>
        </p:txBody>
      </p:sp>
      <p:sp>
        <p:nvSpPr>
          <p:cNvPr id="38" name="Shape 36">
            <a:extLst>
              <a:ext uri="{FF2B5EF4-FFF2-40B4-BE49-F238E27FC236}">
                <a16:creationId xmlns:a16="http://schemas.microsoft.com/office/drawing/2014/main" id="{1721AC62-3BD6-80E6-E551-7FBD542C9302}"/>
              </a:ext>
            </a:extLst>
          </p:cNvPr>
          <p:cNvSpPr/>
          <p:nvPr/>
        </p:nvSpPr>
        <p:spPr>
          <a:xfrm>
            <a:off x="274320" y="3685032"/>
            <a:ext cx="1261872" cy="1298448"/>
          </a:xfrm>
          <a:prstGeom prst="rect">
            <a:avLst/>
          </a:prstGeom>
          <a:solidFill>
            <a:srgbClr val="FFFFFF"/>
          </a:solidFill>
          <a:ln w="12700">
            <a:solidFill>
              <a:srgbClr val="E2E8F0"/>
            </a:solidFill>
            <a:prstDash val="solid"/>
          </a:ln>
          <a:effectLst>
            <a:outerShdw blurRad="127000" dist="25400" dir="8100000" algn="bl" rotWithShape="0">
              <a:srgbClr val="000000">
                <a:alpha val="8000"/>
              </a:srgbClr>
            </a:outerShdw>
          </a:effectLst>
        </p:spPr>
      </p:sp>
      <p:sp>
        <p:nvSpPr>
          <p:cNvPr id="39" name="Shape 37">
            <a:extLst>
              <a:ext uri="{FF2B5EF4-FFF2-40B4-BE49-F238E27FC236}">
                <a16:creationId xmlns:a16="http://schemas.microsoft.com/office/drawing/2014/main" id="{CCF5ECD7-2152-2167-90B2-8ACB52640E85}"/>
              </a:ext>
            </a:extLst>
          </p:cNvPr>
          <p:cNvSpPr/>
          <p:nvPr/>
        </p:nvSpPr>
        <p:spPr>
          <a:xfrm>
            <a:off x="274320" y="3685032"/>
            <a:ext cx="1261872" cy="64008"/>
          </a:xfrm>
          <a:prstGeom prst="rect">
            <a:avLst/>
          </a:prstGeom>
          <a:solidFill>
            <a:srgbClr val="028090"/>
          </a:solidFill>
          <a:ln w="12700">
            <a:solidFill>
              <a:srgbClr val="028090"/>
            </a:solidFill>
            <a:prstDash val="solid"/>
          </a:ln>
        </p:spPr>
      </p:sp>
      <p:sp>
        <p:nvSpPr>
          <p:cNvPr id="40" name="Text 38">
            <a:extLst>
              <a:ext uri="{FF2B5EF4-FFF2-40B4-BE49-F238E27FC236}">
                <a16:creationId xmlns:a16="http://schemas.microsoft.com/office/drawing/2014/main" id="{FBBCB3DD-650B-31DC-C672-7710484067DA}"/>
              </a:ext>
            </a:extLst>
          </p:cNvPr>
          <p:cNvSpPr/>
          <p:nvPr/>
        </p:nvSpPr>
        <p:spPr>
          <a:xfrm>
            <a:off x="365760" y="3794760"/>
            <a:ext cx="1115568" cy="365760"/>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customers.csv</a:t>
            </a:r>
            <a:endParaRPr lang="en-US" sz="950" dirty="0"/>
          </a:p>
        </p:txBody>
      </p:sp>
      <p:sp>
        <p:nvSpPr>
          <p:cNvPr id="41" name="Text 39">
            <a:extLst>
              <a:ext uri="{FF2B5EF4-FFF2-40B4-BE49-F238E27FC236}">
                <a16:creationId xmlns:a16="http://schemas.microsoft.com/office/drawing/2014/main" id="{D01540F5-4921-A832-CD01-1F2CCBDD84C2}"/>
              </a:ext>
            </a:extLst>
          </p:cNvPr>
          <p:cNvSpPr/>
          <p:nvPr/>
        </p:nvSpPr>
        <p:spPr>
          <a:xfrm>
            <a:off x="365760" y="4206240"/>
            <a:ext cx="1115568"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20,000 customers</a:t>
            </a:r>
            <a:endParaRPr lang="en-US" sz="900" dirty="0"/>
          </a:p>
        </p:txBody>
      </p:sp>
      <p:sp>
        <p:nvSpPr>
          <p:cNvPr id="42" name="Shape 40">
            <a:extLst>
              <a:ext uri="{FF2B5EF4-FFF2-40B4-BE49-F238E27FC236}">
                <a16:creationId xmlns:a16="http://schemas.microsoft.com/office/drawing/2014/main" id="{78D24D01-D5B5-6EB5-C0BE-6CFA7AB51216}"/>
              </a:ext>
            </a:extLst>
          </p:cNvPr>
          <p:cNvSpPr/>
          <p:nvPr/>
        </p:nvSpPr>
        <p:spPr>
          <a:xfrm>
            <a:off x="1737360" y="3685032"/>
            <a:ext cx="1261872" cy="1298448"/>
          </a:xfrm>
          <a:prstGeom prst="rect">
            <a:avLst/>
          </a:prstGeom>
          <a:solidFill>
            <a:srgbClr val="FFFFFF"/>
          </a:solidFill>
          <a:ln w="12700">
            <a:solidFill>
              <a:srgbClr val="E2E8F0"/>
            </a:solidFill>
            <a:prstDash val="solid"/>
          </a:ln>
          <a:effectLst>
            <a:outerShdw blurRad="127000" dist="25400" dir="8100000" algn="bl" rotWithShape="0">
              <a:srgbClr val="000000">
                <a:alpha val="8000"/>
              </a:srgbClr>
            </a:outerShdw>
          </a:effectLst>
        </p:spPr>
      </p:sp>
      <p:sp>
        <p:nvSpPr>
          <p:cNvPr id="43" name="Shape 41">
            <a:extLst>
              <a:ext uri="{FF2B5EF4-FFF2-40B4-BE49-F238E27FC236}">
                <a16:creationId xmlns:a16="http://schemas.microsoft.com/office/drawing/2014/main" id="{EE0DF4A7-E4EB-F1AE-18A0-ABB6DA47EB50}"/>
              </a:ext>
            </a:extLst>
          </p:cNvPr>
          <p:cNvSpPr/>
          <p:nvPr/>
        </p:nvSpPr>
        <p:spPr>
          <a:xfrm>
            <a:off x="1737360" y="3685032"/>
            <a:ext cx="1261872" cy="64008"/>
          </a:xfrm>
          <a:prstGeom prst="rect">
            <a:avLst/>
          </a:prstGeom>
          <a:solidFill>
            <a:srgbClr val="F4A261"/>
          </a:solidFill>
          <a:ln w="12700">
            <a:solidFill>
              <a:srgbClr val="F4A261"/>
            </a:solidFill>
            <a:prstDash val="solid"/>
          </a:ln>
        </p:spPr>
      </p:sp>
      <p:sp>
        <p:nvSpPr>
          <p:cNvPr id="44" name="Text 42">
            <a:extLst>
              <a:ext uri="{FF2B5EF4-FFF2-40B4-BE49-F238E27FC236}">
                <a16:creationId xmlns:a16="http://schemas.microsoft.com/office/drawing/2014/main" id="{CEB2999C-EB45-72F9-D671-F53B1546EB60}"/>
              </a:ext>
            </a:extLst>
          </p:cNvPr>
          <p:cNvSpPr/>
          <p:nvPr/>
        </p:nvSpPr>
        <p:spPr>
          <a:xfrm>
            <a:off x="1828800" y="3794760"/>
            <a:ext cx="1115568" cy="365760"/>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orders.csv</a:t>
            </a:r>
            <a:endParaRPr lang="en-US" sz="950" dirty="0"/>
          </a:p>
        </p:txBody>
      </p:sp>
      <p:sp>
        <p:nvSpPr>
          <p:cNvPr id="45" name="Text 43">
            <a:extLst>
              <a:ext uri="{FF2B5EF4-FFF2-40B4-BE49-F238E27FC236}">
                <a16:creationId xmlns:a16="http://schemas.microsoft.com/office/drawing/2014/main" id="{0296EDF2-F465-583D-5A8A-2FD2EA51055F}"/>
              </a:ext>
            </a:extLst>
          </p:cNvPr>
          <p:cNvSpPr/>
          <p:nvPr/>
        </p:nvSpPr>
        <p:spPr>
          <a:xfrm>
            <a:off x="1828800" y="4206240"/>
            <a:ext cx="1115568"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33,580 orders</a:t>
            </a:r>
            <a:endParaRPr lang="en-US" sz="900" dirty="0"/>
          </a:p>
        </p:txBody>
      </p:sp>
      <p:sp>
        <p:nvSpPr>
          <p:cNvPr id="46" name="Shape 44">
            <a:extLst>
              <a:ext uri="{FF2B5EF4-FFF2-40B4-BE49-F238E27FC236}">
                <a16:creationId xmlns:a16="http://schemas.microsoft.com/office/drawing/2014/main" id="{38C4DACF-52AF-593B-66A3-F3F0DB9A25AB}"/>
              </a:ext>
            </a:extLst>
          </p:cNvPr>
          <p:cNvSpPr/>
          <p:nvPr/>
        </p:nvSpPr>
        <p:spPr>
          <a:xfrm>
            <a:off x="3200400" y="3685032"/>
            <a:ext cx="1261872" cy="1298448"/>
          </a:xfrm>
          <a:prstGeom prst="rect">
            <a:avLst/>
          </a:prstGeom>
          <a:solidFill>
            <a:srgbClr val="FFFFFF"/>
          </a:solidFill>
          <a:ln w="12700">
            <a:solidFill>
              <a:srgbClr val="E2E8F0"/>
            </a:solidFill>
            <a:prstDash val="solid"/>
          </a:ln>
          <a:effectLst>
            <a:outerShdw blurRad="127000" dist="25400" dir="8100000" algn="bl" rotWithShape="0">
              <a:srgbClr val="000000">
                <a:alpha val="8000"/>
              </a:srgbClr>
            </a:outerShdw>
          </a:effectLst>
        </p:spPr>
      </p:sp>
      <p:sp>
        <p:nvSpPr>
          <p:cNvPr id="47" name="Shape 45">
            <a:extLst>
              <a:ext uri="{FF2B5EF4-FFF2-40B4-BE49-F238E27FC236}">
                <a16:creationId xmlns:a16="http://schemas.microsoft.com/office/drawing/2014/main" id="{F5715F7D-3095-5B56-E63D-34490DF57D02}"/>
              </a:ext>
            </a:extLst>
          </p:cNvPr>
          <p:cNvSpPr/>
          <p:nvPr/>
        </p:nvSpPr>
        <p:spPr>
          <a:xfrm>
            <a:off x="3200400" y="3685032"/>
            <a:ext cx="1261872" cy="64008"/>
          </a:xfrm>
          <a:prstGeom prst="rect">
            <a:avLst/>
          </a:prstGeom>
          <a:solidFill>
            <a:srgbClr val="6C63FF"/>
          </a:solidFill>
          <a:ln w="12700">
            <a:solidFill>
              <a:srgbClr val="6C63FF"/>
            </a:solidFill>
            <a:prstDash val="solid"/>
          </a:ln>
        </p:spPr>
      </p:sp>
      <p:sp>
        <p:nvSpPr>
          <p:cNvPr id="48" name="Text 46">
            <a:extLst>
              <a:ext uri="{FF2B5EF4-FFF2-40B4-BE49-F238E27FC236}">
                <a16:creationId xmlns:a16="http://schemas.microsoft.com/office/drawing/2014/main" id="{34E6006A-B521-54FB-BA32-ECF898A0568F}"/>
              </a:ext>
            </a:extLst>
          </p:cNvPr>
          <p:cNvSpPr/>
          <p:nvPr/>
        </p:nvSpPr>
        <p:spPr>
          <a:xfrm>
            <a:off x="3291840" y="3794760"/>
            <a:ext cx="1115568" cy="365760"/>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order_items.csv</a:t>
            </a:r>
            <a:endParaRPr lang="en-US" sz="950" dirty="0"/>
          </a:p>
        </p:txBody>
      </p:sp>
      <p:sp>
        <p:nvSpPr>
          <p:cNvPr id="49" name="Text 47">
            <a:extLst>
              <a:ext uri="{FF2B5EF4-FFF2-40B4-BE49-F238E27FC236}">
                <a16:creationId xmlns:a16="http://schemas.microsoft.com/office/drawing/2014/main" id="{3ECC5519-905E-97A7-5F8D-CA1A89928833}"/>
              </a:ext>
            </a:extLst>
          </p:cNvPr>
          <p:cNvSpPr/>
          <p:nvPr/>
        </p:nvSpPr>
        <p:spPr>
          <a:xfrm>
            <a:off x="3291840" y="4206240"/>
            <a:ext cx="1115568"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59,090 line items</a:t>
            </a:r>
            <a:endParaRPr lang="en-US" sz="900" dirty="0"/>
          </a:p>
        </p:txBody>
      </p:sp>
      <p:sp>
        <p:nvSpPr>
          <p:cNvPr id="50" name="Shape 48">
            <a:extLst>
              <a:ext uri="{FF2B5EF4-FFF2-40B4-BE49-F238E27FC236}">
                <a16:creationId xmlns:a16="http://schemas.microsoft.com/office/drawing/2014/main" id="{F63FE8C6-FB8F-4F18-78EE-4A0F2288AD4E}"/>
              </a:ext>
            </a:extLst>
          </p:cNvPr>
          <p:cNvSpPr/>
          <p:nvPr/>
        </p:nvSpPr>
        <p:spPr>
          <a:xfrm>
            <a:off x="4663440" y="3685032"/>
            <a:ext cx="1261872" cy="1298448"/>
          </a:xfrm>
          <a:prstGeom prst="rect">
            <a:avLst/>
          </a:prstGeom>
          <a:solidFill>
            <a:srgbClr val="FFFFFF"/>
          </a:solidFill>
          <a:ln w="12700">
            <a:solidFill>
              <a:srgbClr val="E2E8F0"/>
            </a:solidFill>
            <a:prstDash val="solid"/>
          </a:ln>
          <a:effectLst>
            <a:outerShdw blurRad="127000" dist="25400" dir="8100000" algn="bl" rotWithShape="0">
              <a:srgbClr val="000000">
                <a:alpha val="8000"/>
              </a:srgbClr>
            </a:outerShdw>
          </a:effectLst>
        </p:spPr>
      </p:sp>
      <p:sp>
        <p:nvSpPr>
          <p:cNvPr id="51" name="Shape 49">
            <a:extLst>
              <a:ext uri="{FF2B5EF4-FFF2-40B4-BE49-F238E27FC236}">
                <a16:creationId xmlns:a16="http://schemas.microsoft.com/office/drawing/2014/main" id="{FABD8EFD-571D-10D9-E917-F0F16ED1935A}"/>
              </a:ext>
            </a:extLst>
          </p:cNvPr>
          <p:cNvSpPr/>
          <p:nvPr/>
        </p:nvSpPr>
        <p:spPr>
          <a:xfrm>
            <a:off x="4663440" y="3685032"/>
            <a:ext cx="1261872" cy="64008"/>
          </a:xfrm>
          <a:prstGeom prst="rect">
            <a:avLst/>
          </a:prstGeom>
          <a:solidFill>
            <a:srgbClr val="02C39A"/>
          </a:solidFill>
          <a:ln w="12700">
            <a:solidFill>
              <a:srgbClr val="02C39A"/>
            </a:solidFill>
            <a:prstDash val="solid"/>
          </a:ln>
        </p:spPr>
      </p:sp>
      <p:sp>
        <p:nvSpPr>
          <p:cNvPr id="52" name="Text 50">
            <a:extLst>
              <a:ext uri="{FF2B5EF4-FFF2-40B4-BE49-F238E27FC236}">
                <a16:creationId xmlns:a16="http://schemas.microsoft.com/office/drawing/2014/main" id="{12BB8025-44EA-3B64-BE78-06A5630BECB4}"/>
              </a:ext>
            </a:extLst>
          </p:cNvPr>
          <p:cNvSpPr/>
          <p:nvPr/>
        </p:nvSpPr>
        <p:spPr>
          <a:xfrm>
            <a:off x="4754880" y="3794760"/>
            <a:ext cx="1115568" cy="365760"/>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products.csv</a:t>
            </a:r>
            <a:endParaRPr lang="en-US" sz="950" dirty="0"/>
          </a:p>
        </p:txBody>
      </p:sp>
      <p:sp>
        <p:nvSpPr>
          <p:cNvPr id="53" name="Text 51">
            <a:extLst>
              <a:ext uri="{FF2B5EF4-FFF2-40B4-BE49-F238E27FC236}">
                <a16:creationId xmlns:a16="http://schemas.microsoft.com/office/drawing/2014/main" id="{FD9EBD11-8A7F-9CE0-77A1-17635AB129BD}"/>
              </a:ext>
            </a:extLst>
          </p:cNvPr>
          <p:cNvSpPr/>
          <p:nvPr/>
        </p:nvSpPr>
        <p:spPr>
          <a:xfrm>
            <a:off x="4754880" y="4206240"/>
            <a:ext cx="1115568"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1,197 products</a:t>
            </a:r>
            <a:endParaRPr lang="en-US" sz="900" dirty="0"/>
          </a:p>
        </p:txBody>
      </p:sp>
      <p:sp>
        <p:nvSpPr>
          <p:cNvPr id="54" name="Shape 52">
            <a:extLst>
              <a:ext uri="{FF2B5EF4-FFF2-40B4-BE49-F238E27FC236}">
                <a16:creationId xmlns:a16="http://schemas.microsoft.com/office/drawing/2014/main" id="{6B2CAEAD-811A-C4C7-F6F4-46743749C605}"/>
              </a:ext>
            </a:extLst>
          </p:cNvPr>
          <p:cNvSpPr/>
          <p:nvPr/>
        </p:nvSpPr>
        <p:spPr>
          <a:xfrm>
            <a:off x="6126480" y="3685032"/>
            <a:ext cx="1261872" cy="1298448"/>
          </a:xfrm>
          <a:prstGeom prst="rect">
            <a:avLst/>
          </a:prstGeom>
          <a:solidFill>
            <a:srgbClr val="FFFFFF"/>
          </a:solidFill>
          <a:ln w="12700">
            <a:solidFill>
              <a:srgbClr val="E2E8F0"/>
            </a:solidFill>
            <a:prstDash val="solid"/>
          </a:ln>
          <a:effectLst>
            <a:outerShdw blurRad="127000" dist="25400" dir="8100000" algn="bl" rotWithShape="0">
              <a:srgbClr val="000000">
                <a:alpha val="8000"/>
              </a:srgbClr>
            </a:outerShdw>
          </a:effectLst>
        </p:spPr>
      </p:sp>
      <p:sp>
        <p:nvSpPr>
          <p:cNvPr id="55" name="Shape 53">
            <a:extLst>
              <a:ext uri="{FF2B5EF4-FFF2-40B4-BE49-F238E27FC236}">
                <a16:creationId xmlns:a16="http://schemas.microsoft.com/office/drawing/2014/main" id="{663C612A-4DC9-0F21-2215-5DAE07740EC2}"/>
              </a:ext>
            </a:extLst>
          </p:cNvPr>
          <p:cNvSpPr/>
          <p:nvPr/>
        </p:nvSpPr>
        <p:spPr>
          <a:xfrm>
            <a:off x="6126480" y="3685032"/>
            <a:ext cx="1261872" cy="64008"/>
          </a:xfrm>
          <a:prstGeom prst="rect">
            <a:avLst/>
          </a:prstGeom>
          <a:solidFill>
            <a:srgbClr val="E76F51"/>
          </a:solidFill>
          <a:ln w="12700">
            <a:solidFill>
              <a:srgbClr val="E76F51"/>
            </a:solidFill>
            <a:prstDash val="solid"/>
          </a:ln>
        </p:spPr>
      </p:sp>
      <p:sp>
        <p:nvSpPr>
          <p:cNvPr id="56" name="Text 54">
            <a:extLst>
              <a:ext uri="{FF2B5EF4-FFF2-40B4-BE49-F238E27FC236}">
                <a16:creationId xmlns:a16="http://schemas.microsoft.com/office/drawing/2014/main" id="{4CB90DA1-8C94-E039-1706-0187D7DDD1B1}"/>
              </a:ext>
            </a:extLst>
          </p:cNvPr>
          <p:cNvSpPr/>
          <p:nvPr/>
        </p:nvSpPr>
        <p:spPr>
          <a:xfrm>
            <a:off x="6217920" y="3794760"/>
            <a:ext cx="1115568" cy="365760"/>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reviews.csv</a:t>
            </a:r>
            <a:endParaRPr lang="en-US" sz="950" dirty="0"/>
          </a:p>
        </p:txBody>
      </p:sp>
      <p:sp>
        <p:nvSpPr>
          <p:cNvPr id="57" name="Text 55">
            <a:extLst>
              <a:ext uri="{FF2B5EF4-FFF2-40B4-BE49-F238E27FC236}">
                <a16:creationId xmlns:a16="http://schemas.microsoft.com/office/drawing/2014/main" id="{64BEDAD7-4341-7044-D942-18A668995EE2}"/>
              </a:ext>
            </a:extLst>
          </p:cNvPr>
          <p:cNvSpPr/>
          <p:nvPr/>
        </p:nvSpPr>
        <p:spPr>
          <a:xfrm>
            <a:off x="6217920" y="4206240"/>
            <a:ext cx="1115568"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10,780 reviews</a:t>
            </a:r>
            <a:endParaRPr lang="en-US" sz="900" dirty="0"/>
          </a:p>
        </p:txBody>
      </p:sp>
      <p:sp>
        <p:nvSpPr>
          <p:cNvPr id="58" name="Shape 56">
            <a:extLst>
              <a:ext uri="{FF2B5EF4-FFF2-40B4-BE49-F238E27FC236}">
                <a16:creationId xmlns:a16="http://schemas.microsoft.com/office/drawing/2014/main" id="{CB647CC8-11C0-EC3E-C635-AAEB3951CDA0}"/>
              </a:ext>
            </a:extLst>
          </p:cNvPr>
          <p:cNvSpPr/>
          <p:nvPr/>
        </p:nvSpPr>
        <p:spPr>
          <a:xfrm>
            <a:off x="7589520" y="3685032"/>
            <a:ext cx="1261872" cy="1298448"/>
          </a:xfrm>
          <a:prstGeom prst="rect">
            <a:avLst/>
          </a:prstGeom>
          <a:solidFill>
            <a:srgbClr val="FFFFFF"/>
          </a:solidFill>
          <a:ln w="12700">
            <a:solidFill>
              <a:srgbClr val="E2E8F0"/>
            </a:solidFill>
            <a:prstDash val="solid"/>
          </a:ln>
          <a:effectLst>
            <a:outerShdw blurRad="127000" dist="25400" dir="8100000" algn="bl" rotWithShape="0">
              <a:srgbClr val="000000">
                <a:alpha val="8000"/>
              </a:srgbClr>
            </a:outerShdw>
          </a:effectLst>
        </p:spPr>
      </p:sp>
      <p:sp>
        <p:nvSpPr>
          <p:cNvPr id="59" name="Shape 57">
            <a:extLst>
              <a:ext uri="{FF2B5EF4-FFF2-40B4-BE49-F238E27FC236}">
                <a16:creationId xmlns:a16="http://schemas.microsoft.com/office/drawing/2014/main" id="{0C7149B7-2717-7827-D2B9-C9F1446E2B0A}"/>
              </a:ext>
            </a:extLst>
          </p:cNvPr>
          <p:cNvSpPr/>
          <p:nvPr/>
        </p:nvSpPr>
        <p:spPr>
          <a:xfrm>
            <a:off x="7589520" y="3685032"/>
            <a:ext cx="1261872" cy="64008"/>
          </a:xfrm>
          <a:prstGeom prst="rect">
            <a:avLst/>
          </a:prstGeom>
          <a:solidFill>
            <a:srgbClr val="185FA5"/>
          </a:solidFill>
          <a:ln w="12700">
            <a:solidFill>
              <a:srgbClr val="185FA5"/>
            </a:solidFill>
            <a:prstDash val="solid"/>
          </a:ln>
        </p:spPr>
      </p:sp>
      <p:sp>
        <p:nvSpPr>
          <p:cNvPr id="60" name="Text 58">
            <a:extLst>
              <a:ext uri="{FF2B5EF4-FFF2-40B4-BE49-F238E27FC236}">
                <a16:creationId xmlns:a16="http://schemas.microsoft.com/office/drawing/2014/main" id="{D19276CC-98F3-2D97-944B-3FA51E9CDF5D}"/>
              </a:ext>
            </a:extLst>
          </p:cNvPr>
          <p:cNvSpPr/>
          <p:nvPr/>
        </p:nvSpPr>
        <p:spPr>
          <a:xfrm>
            <a:off x="7680960" y="3794760"/>
            <a:ext cx="1115568" cy="365760"/>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sessions.csv</a:t>
            </a:r>
            <a:endParaRPr lang="en-US" sz="950" dirty="0"/>
          </a:p>
        </p:txBody>
      </p:sp>
      <p:sp>
        <p:nvSpPr>
          <p:cNvPr id="61" name="Text 59">
            <a:extLst>
              <a:ext uri="{FF2B5EF4-FFF2-40B4-BE49-F238E27FC236}">
                <a16:creationId xmlns:a16="http://schemas.microsoft.com/office/drawing/2014/main" id="{4A23F8B3-2D51-D435-61EF-5667F5E69971}"/>
              </a:ext>
            </a:extLst>
          </p:cNvPr>
          <p:cNvSpPr/>
          <p:nvPr/>
        </p:nvSpPr>
        <p:spPr>
          <a:xfrm>
            <a:off x="7680960" y="4206240"/>
            <a:ext cx="1115568"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120,000 sessions</a:t>
            </a:r>
            <a:endParaRPr lang="en-US" sz="900" dirty="0"/>
          </a:p>
        </p:txBody>
      </p:sp>
    </p:spTree>
    <p:extLst>
      <p:ext uri="{BB962C8B-B14F-4D97-AF65-F5344CB8AC3E}">
        <p14:creationId xmlns:p14="http://schemas.microsoft.com/office/powerpoint/2010/main" val="1141315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B7482B5-A906-1525-5DE4-7B5038F5DEDF}"/>
              </a:ext>
            </a:extLst>
          </p:cNvPr>
          <p:cNvSpPr/>
          <p:nvPr/>
        </p:nvSpPr>
        <p:spPr>
          <a:xfrm>
            <a:off x="0" y="0"/>
            <a:ext cx="9144000" cy="658368"/>
          </a:xfrm>
          <a:prstGeom prst="rect">
            <a:avLst/>
          </a:prstGeom>
          <a:solidFill>
            <a:srgbClr val="0D1B3E"/>
          </a:solidFill>
          <a:ln w="12700">
            <a:solidFill>
              <a:srgbClr val="0D1B3E"/>
            </a:solidFill>
            <a:prstDash val="solid"/>
          </a:ln>
        </p:spPr>
      </p:sp>
      <p:sp>
        <p:nvSpPr>
          <p:cNvPr id="3" name="Text 1">
            <a:extLst>
              <a:ext uri="{FF2B5EF4-FFF2-40B4-BE49-F238E27FC236}">
                <a16:creationId xmlns:a16="http://schemas.microsoft.com/office/drawing/2014/main" id="{EA89ED53-F67E-AB8E-5B31-E413AB66516A}"/>
              </a:ext>
            </a:extLst>
          </p:cNvPr>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Cleaning</a:t>
            </a:r>
            <a:endParaRPr lang="en-US" sz="2200" dirty="0"/>
          </a:p>
        </p:txBody>
      </p:sp>
      <p:sp>
        <p:nvSpPr>
          <p:cNvPr id="4" name="Text 2">
            <a:extLst>
              <a:ext uri="{FF2B5EF4-FFF2-40B4-BE49-F238E27FC236}">
                <a16:creationId xmlns:a16="http://schemas.microsoft.com/office/drawing/2014/main" id="{DA229263-B09A-419A-BAB0-523671AF9A7A}"/>
              </a:ext>
            </a:extLst>
          </p:cNvPr>
          <p:cNvSpPr/>
          <p:nvPr/>
        </p:nvSpPr>
        <p:spPr>
          <a:xfrm>
            <a:off x="6583680" y="0"/>
            <a:ext cx="2286000" cy="658368"/>
          </a:xfrm>
          <a:prstGeom prst="rect">
            <a:avLst/>
          </a:prstGeom>
          <a:noFill/>
          <a:ln/>
        </p:spPr>
        <p:txBody>
          <a:bodyPr wrap="square" lIns="0" tIns="0" rIns="0" bIns="0" rtlCol="0" anchor="ctr"/>
          <a:lstStyle/>
          <a:p>
            <a:pPr marL="0" indent="0" algn="r">
              <a:buNone/>
            </a:pPr>
            <a:r>
              <a:rPr lang="en-US" sz="1100" i="1" dirty="0">
                <a:solidFill>
                  <a:srgbClr val="A0AEC0"/>
                </a:solidFill>
                <a:latin typeface="Calibri" pitchFamily="34" charset="0"/>
                <a:ea typeface="Calibri" pitchFamily="34" charset="-122"/>
                <a:cs typeface="Calibri" pitchFamily="34" charset="-120"/>
              </a:rPr>
              <a:t>data_cleaning.ipynb</a:t>
            </a:r>
            <a:endParaRPr lang="en-US" sz="1100" dirty="0"/>
          </a:p>
        </p:txBody>
      </p:sp>
      <p:sp>
        <p:nvSpPr>
          <p:cNvPr id="5" name="Shape 3">
            <a:extLst>
              <a:ext uri="{FF2B5EF4-FFF2-40B4-BE49-F238E27FC236}">
                <a16:creationId xmlns:a16="http://schemas.microsoft.com/office/drawing/2014/main" id="{4B56F900-7F7B-5634-5721-6E3AD509E2BE}"/>
              </a:ext>
            </a:extLst>
          </p:cNvPr>
          <p:cNvSpPr/>
          <p:nvPr/>
        </p:nvSpPr>
        <p:spPr>
          <a:xfrm>
            <a:off x="274320" y="841248"/>
            <a:ext cx="2697480" cy="1956816"/>
          </a:xfrm>
          <a:prstGeom prst="rect">
            <a:avLst/>
          </a:prstGeom>
          <a:solidFill>
            <a:srgbClr val="FFFFFF"/>
          </a:solidFill>
          <a:ln w="12700">
            <a:solidFill>
              <a:srgbClr val="E2E8F0"/>
            </a:solidFill>
            <a:prstDash val="solid"/>
          </a:ln>
          <a:effectLst>
            <a:outerShdw blurRad="127000" dist="25400" dir="8100000" algn="bl" rotWithShape="0">
              <a:srgbClr val="000000">
                <a:alpha val="8000"/>
              </a:srgbClr>
            </a:outerShdw>
          </a:effectLst>
        </p:spPr>
      </p:sp>
      <p:sp>
        <p:nvSpPr>
          <p:cNvPr id="6" name="Shape 4">
            <a:extLst>
              <a:ext uri="{FF2B5EF4-FFF2-40B4-BE49-F238E27FC236}">
                <a16:creationId xmlns:a16="http://schemas.microsoft.com/office/drawing/2014/main" id="{E7646EB3-30B4-2B38-0A31-F92195A005A7}"/>
              </a:ext>
            </a:extLst>
          </p:cNvPr>
          <p:cNvSpPr/>
          <p:nvPr/>
        </p:nvSpPr>
        <p:spPr>
          <a:xfrm>
            <a:off x="274320" y="841248"/>
            <a:ext cx="2697480" cy="64008"/>
          </a:xfrm>
          <a:prstGeom prst="rect">
            <a:avLst/>
          </a:prstGeom>
          <a:solidFill>
            <a:srgbClr val="028090"/>
          </a:solidFill>
          <a:ln w="12700">
            <a:solidFill>
              <a:srgbClr val="028090"/>
            </a:solidFill>
            <a:prstDash val="solid"/>
          </a:ln>
        </p:spPr>
      </p:sp>
      <p:sp>
        <p:nvSpPr>
          <p:cNvPr id="7" name="Shape 5">
            <a:extLst>
              <a:ext uri="{FF2B5EF4-FFF2-40B4-BE49-F238E27FC236}">
                <a16:creationId xmlns:a16="http://schemas.microsoft.com/office/drawing/2014/main" id="{B4D81B5C-D1D6-66C4-EA76-83062F1C883F}"/>
              </a:ext>
            </a:extLst>
          </p:cNvPr>
          <p:cNvSpPr/>
          <p:nvPr/>
        </p:nvSpPr>
        <p:spPr>
          <a:xfrm>
            <a:off x="2377440" y="594360"/>
            <a:ext cx="438912" cy="438912"/>
          </a:xfrm>
          <a:prstGeom prst="ellipse">
            <a:avLst/>
          </a:prstGeom>
          <a:solidFill>
            <a:srgbClr val="028090"/>
          </a:solidFill>
          <a:ln w="12700">
            <a:solidFill>
              <a:srgbClr val="028090"/>
            </a:solidFill>
            <a:prstDash val="solid"/>
          </a:ln>
        </p:spPr>
      </p:sp>
      <p:sp>
        <p:nvSpPr>
          <p:cNvPr id="8" name="Text 6">
            <a:extLst>
              <a:ext uri="{FF2B5EF4-FFF2-40B4-BE49-F238E27FC236}">
                <a16:creationId xmlns:a16="http://schemas.microsoft.com/office/drawing/2014/main" id="{093BAC7E-53D5-146C-8BDB-72B727E08D16}"/>
              </a:ext>
            </a:extLst>
          </p:cNvPr>
          <p:cNvSpPr/>
          <p:nvPr/>
        </p:nvSpPr>
        <p:spPr>
          <a:xfrm>
            <a:off x="2377440" y="594360"/>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a:extLst>
              <a:ext uri="{FF2B5EF4-FFF2-40B4-BE49-F238E27FC236}">
                <a16:creationId xmlns:a16="http://schemas.microsoft.com/office/drawing/2014/main" id="{CBBE1955-00D0-F26D-4E91-2DC3828CAAF7}"/>
              </a:ext>
            </a:extLst>
          </p:cNvPr>
          <p:cNvSpPr/>
          <p:nvPr/>
        </p:nvSpPr>
        <p:spPr>
          <a:xfrm>
            <a:off x="438912" y="987552"/>
            <a:ext cx="2423160" cy="329184"/>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Load Raw Data</a:t>
            </a:r>
            <a:endParaRPr lang="en-US" sz="1300" dirty="0"/>
          </a:p>
        </p:txBody>
      </p:sp>
      <p:sp>
        <p:nvSpPr>
          <p:cNvPr id="10" name="Text 8">
            <a:extLst>
              <a:ext uri="{FF2B5EF4-FFF2-40B4-BE49-F238E27FC236}">
                <a16:creationId xmlns:a16="http://schemas.microsoft.com/office/drawing/2014/main" id="{0CA3AF06-6940-72EC-643B-E10ED658C94E}"/>
              </a:ext>
            </a:extLst>
          </p:cNvPr>
          <p:cNvSpPr/>
          <p:nvPr/>
        </p:nvSpPr>
        <p:spPr>
          <a:xfrm>
            <a:off x="438912" y="1371600"/>
            <a:ext cx="2423160" cy="129844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7 CSV files loaded:</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customers, events, orders,</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order_items, products,</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reviews, sessions</a:t>
            </a:r>
            <a:endParaRPr lang="en-US" sz="1050" dirty="0"/>
          </a:p>
        </p:txBody>
      </p:sp>
      <p:sp>
        <p:nvSpPr>
          <p:cNvPr id="11" name="Shape 9">
            <a:extLst>
              <a:ext uri="{FF2B5EF4-FFF2-40B4-BE49-F238E27FC236}">
                <a16:creationId xmlns:a16="http://schemas.microsoft.com/office/drawing/2014/main" id="{5B3A3BB9-0D6D-56E3-3B2D-F6EF35C82B80}"/>
              </a:ext>
            </a:extLst>
          </p:cNvPr>
          <p:cNvSpPr/>
          <p:nvPr/>
        </p:nvSpPr>
        <p:spPr>
          <a:xfrm>
            <a:off x="3154680" y="841248"/>
            <a:ext cx="2697480" cy="1956816"/>
          </a:xfrm>
          <a:prstGeom prst="rect">
            <a:avLst/>
          </a:prstGeom>
          <a:solidFill>
            <a:srgbClr val="FFFFFF"/>
          </a:solidFill>
          <a:ln w="12700">
            <a:solidFill>
              <a:srgbClr val="E2E8F0"/>
            </a:solidFill>
            <a:prstDash val="solid"/>
          </a:ln>
          <a:effectLst>
            <a:outerShdw blurRad="127000" dist="25400" dir="8100000" algn="bl" rotWithShape="0">
              <a:srgbClr val="000000">
                <a:alpha val="8000"/>
              </a:srgbClr>
            </a:outerShdw>
          </a:effectLst>
        </p:spPr>
      </p:sp>
      <p:sp>
        <p:nvSpPr>
          <p:cNvPr id="12" name="Shape 10">
            <a:extLst>
              <a:ext uri="{FF2B5EF4-FFF2-40B4-BE49-F238E27FC236}">
                <a16:creationId xmlns:a16="http://schemas.microsoft.com/office/drawing/2014/main" id="{77096563-09F4-628F-E0D0-1BDCD32AD40A}"/>
              </a:ext>
            </a:extLst>
          </p:cNvPr>
          <p:cNvSpPr/>
          <p:nvPr/>
        </p:nvSpPr>
        <p:spPr>
          <a:xfrm>
            <a:off x="3154680" y="841248"/>
            <a:ext cx="2697480" cy="64008"/>
          </a:xfrm>
          <a:prstGeom prst="rect">
            <a:avLst/>
          </a:prstGeom>
          <a:solidFill>
            <a:srgbClr val="6C63FF"/>
          </a:solidFill>
          <a:ln w="12700">
            <a:solidFill>
              <a:srgbClr val="6C63FF"/>
            </a:solidFill>
            <a:prstDash val="solid"/>
          </a:ln>
        </p:spPr>
      </p:sp>
      <p:sp>
        <p:nvSpPr>
          <p:cNvPr id="13" name="Shape 11">
            <a:extLst>
              <a:ext uri="{FF2B5EF4-FFF2-40B4-BE49-F238E27FC236}">
                <a16:creationId xmlns:a16="http://schemas.microsoft.com/office/drawing/2014/main" id="{3862D6C7-0340-EF6C-4944-8779F2193D5B}"/>
              </a:ext>
            </a:extLst>
          </p:cNvPr>
          <p:cNvSpPr/>
          <p:nvPr/>
        </p:nvSpPr>
        <p:spPr>
          <a:xfrm>
            <a:off x="5257800" y="594360"/>
            <a:ext cx="438912" cy="438912"/>
          </a:xfrm>
          <a:prstGeom prst="ellipse">
            <a:avLst/>
          </a:prstGeom>
          <a:solidFill>
            <a:srgbClr val="6C63FF"/>
          </a:solidFill>
          <a:ln w="12700">
            <a:solidFill>
              <a:srgbClr val="6C63FF"/>
            </a:solidFill>
            <a:prstDash val="solid"/>
          </a:ln>
        </p:spPr>
      </p:sp>
      <p:sp>
        <p:nvSpPr>
          <p:cNvPr id="14" name="Text 12">
            <a:extLst>
              <a:ext uri="{FF2B5EF4-FFF2-40B4-BE49-F238E27FC236}">
                <a16:creationId xmlns:a16="http://schemas.microsoft.com/office/drawing/2014/main" id="{F6ACA100-7FE1-29CC-6224-13811F5C3F84}"/>
              </a:ext>
            </a:extLst>
          </p:cNvPr>
          <p:cNvSpPr/>
          <p:nvPr/>
        </p:nvSpPr>
        <p:spPr>
          <a:xfrm>
            <a:off x="5257800" y="594360"/>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a:extLst>
              <a:ext uri="{FF2B5EF4-FFF2-40B4-BE49-F238E27FC236}">
                <a16:creationId xmlns:a16="http://schemas.microsoft.com/office/drawing/2014/main" id="{4342735E-7024-AFBD-E690-C544987E525B}"/>
              </a:ext>
            </a:extLst>
          </p:cNvPr>
          <p:cNvSpPr/>
          <p:nvPr/>
        </p:nvSpPr>
        <p:spPr>
          <a:xfrm>
            <a:off x="3319272" y="987552"/>
            <a:ext cx="2423160" cy="329184"/>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Remove Duplicates</a:t>
            </a:r>
            <a:endParaRPr lang="en-US" sz="1300" dirty="0"/>
          </a:p>
        </p:txBody>
      </p:sp>
      <p:sp>
        <p:nvSpPr>
          <p:cNvPr id="16" name="Text 14">
            <a:extLst>
              <a:ext uri="{FF2B5EF4-FFF2-40B4-BE49-F238E27FC236}">
                <a16:creationId xmlns:a16="http://schemas.microsoft.com/office/drawing/2014/main" id="{FAFC3AC6-F183-9BF1-7C1B-70CD03D84861}"/>
              </a:ext>
            </a:extLst>
          </p:cNvPr>
          <p:cNvSpPr/>
          <p:nvPr/>
        </p:nvSpPr>
        <p:spPr>
          <a:xfrm>
            <a:off x="3319272" y="1371600"/>
            <a:ext cx="2423160" cy="129844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drop_duplicates() on all</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7 datasets — ensures no</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duplicate rows in pipeline</a:t>
            </a:r>
            <a:endParaRPr lang="en-US" sz="1050" dirty="0"/>
          </a:p>
        </p:txBody>
      </p:sp>
      <p:sp>
        <p:nvSpPr>
          <p:cNvPr id="17" name="Shape 15">
            <a:extLst>
              <a:ext uri="{FF2B5EF4-FFF2-40B4-BE49-F238E27FC236}">
                <a16:creationId xmlns:a16="http://schemas.microsoft.com/office/drawing/2014/main" id="{CDEF8F86-5A60-9546-03E0-13A7D0FCFA2D}"/>
              </a:ext>
            </a:extLst>
          </p:cNvPr>
          <p:cNvSpPr/>
          <p:nvPr/>
        </p:nvSpPr>
        <p:spPr>
          <a:xfrm>
            <a:off x="6035040" y="841248"/>
            <a:ext cx="2697480" cy="1956816"/>
          </a:xfrm>
          <a:prstGeom prst="rect">
            <a:avLst/>
          </a:prstGeom>
          <a:solidFill>
            <a:srgbClr val="FFFFFF"/>
          </a:solidFill>
          <a:ln w="12700">
            <a:solidFill>
              <a:srgbClr val="E2E8F0"/>
            </a:solidFill>
            <a:prstDash val="solid"/>
          </a:ln>
          <a:effectLst>
            <a:outerShdw blurRad="127000" dist="25400" dir="8100000" algn="bl" rotWithShape="0">
              <a:srgbClr val="000000">
                <a:alpha val="8000"/>
              </a:srgbClr>
            </a:outerShdw>
          </a:effectLst>
        </p:spPr>
      </p:sp>
      <p:sp>
        <p:nvSpPr>
          <p:cNvPr id="18" name="Shape 16">
            <a:extLst>
              <a:ext uri="{FF2B5EF4-FFF2-40B4-BE49-F238E27FC236}">
                <a16:creationId xmlns:a16="http://schemas.microsoft.com/office/drawing/2014/main" id="{157B3540-F4FE-8A1E-E0DE-4CE6B8D4ADA2}"/>
              </a:ext>
            </a:extLst>
          </p:cNvPr>
          <p:cNvSpPr/>
          <p:nvPr/>
        </p:nvSpPr>
        <p:spPr>
          <a:xfrm>
            <a:off x="6035040" y="841248"/>
            <a:ext cx="2697480" cy="64008"/>
          </a:xfrm>
          <a:prstGeom prst="rect">
            <a:avLst/>
          </a:prstGeom>
          <a:solidFill>
            <a:srgbClr val="F4A261"/>
          </a:solidFill>
          <a:ln w="12700">
            <a:solidFill>
              <a:srgbClr val="F4A261"/>
            </a:solidFill>
            <a:prstDash val="solid"/>
          </a:ln>
        </p:spPr>
      </p:sp>
      <p:sp>
        <p:nvSpPr>
          <p:cNvPr id="19" name="Shape 17">
            <a:extLst>
              <a:ext uri="{FF2B5EF4-FFF2-40B4-BE49-F238E27FC236}">
                <a16:creationId xmlns:a16="http://schemas.microsoft.com/office/drawing/2014/main" id="{E5351F2C-2ABD-386C-E18D-58AAB51A3222}"/>
              </a:ext>
            </a:extLst>
          </p:cNvPr>
          <p:cNvSpPr/>
          <p:nvPr/>
        </p:nvSpPr>
        <p:spPr>
          <a:xfrm>
            <a:off x="8138160" y="594360"/>
            <a:ext cx="438912" cy="438912"/>
          </a:xfrm>
          <a:prstGeom prst="ellipse">
            <a:avLst/>
          </a:prstGeom>
          <a:solidFill>
            <a:srgbClr val="F4A261"/>
          </a:solidFill>
          <a:ln w="12700">
            <a:solidFill>
              <a:srgbClr val="F4A261"/>
            </a:solidFill>
            <a:prstDash val="solid"/>
          </a:ln>
        </p:spPr>
      </p:sp>
      <p:sp>
        <p:nvSpPr>
          <p:cNvPr id="20" name="Text 18">
            <a:extLst>
              <a:ext uri="{FF2B5EF4-FFF2-40B4-BE49-F238E27FC236}">
                <a16:creationId xmlns:a16="http://schemas.microsoft.com/office/drawing/2014/main" id="{A3266184-9654-7AE4-CC77-8849EEFB26B5}"/>
              </a:ext>
            </a:extLst>
          </p:cNvPr>
          <p:cNvSpPr/>
          <p:nvPr/>
        </p:nvSpPr>
        <p:spPr>
          <a:xfrm>
            <a:off x="8138160" y="594360"/>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a:extLst>
              <a:ext uri="{FF2B5EF4-FFF2-40B4-BE49-F238E27FC236}">
                <a16:creationId xmlns:a16="http://schemas.microsoft.com/office/drawing/2014/main" id="{8B998148-7F02-ECED-A9CE-3C691F31874A}"/>
              </a:ext>
            </a:extLst>
          </p:cNvPr>
          <p:cNvSpPr/>
          <p:nvPr/>
        </p:nvSpPr>
        <p:spPr>
          <a:xfrm>
            <a:off x="6199632" y="987552"/>
            <a:ext cx="2423160" cy="329184"/>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Convert Date Columns</a:t>
            </a:r>
            <a:endParaRPr lang="en-US" sz="1300" dirty="0"/>
          </a:p>
        </p:txBody>
      </p:sp>
      <p:sp>
        <p:nvSpPr>
          <p:cNvPr id="22" name="Text 20">
            <a:extLst>
              <a:ext uri="{FF2B5EF4-FFF2-40B4-BE49-F238E27FC236}">
                <a16:creationId xmlns:a16="http://schemas.microsoft.com/office/drawing/2014/main" id="{33FBF3EE-75AA-18E7-FA77-F204B7E053FA}"/>
              </a:ext>
            </a:extLst>
          </p:cNvPr>
          <p:cNvSpPr/>
          <p:nvPr/>
        </p:nvSpPr>
        <p:spPr>
          <a:xfrm>
            <a:off x="6199632" y="1371600"/>
            <a:ext cx="2423160" cy="129844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signup_date, order_time,</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review_time, start_time</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 pd.to_datetime()</a:t>
            </a:r>
            <a:endParaRPr lang="en-US" sz="1050" dirty="0"/>
          </a:p>
        </p:txBody>
      </p:sp>
      <p:sp>
        <p:nvSpPr>
          <p:cNvPr id="23" name="Shape 21">
            <a:extLst>
              <a:ext uri="{FF2B5EF4-FFF2-40B4-BE49-F238E27FC236}">
                <a16:creationId xmlns:a16="http://schemas.microsoft.com/office/drawing/2014/main" id="{03EA3A2B-7388-30AD-DDC4-8F992E08BF9C}"/>
              </a:ext>
            </a:extLst>
          </p:cNvPr>
          <p:cNvSpPr/>
          <p:nvPr/>
        </p:nvSpPr>
        <p:spPr>
          <a:xfrm>
            <a:off x="274320" y="2962656"/>
            <a:ext cx="2697480" cy="1956816"/>
          </a:xfrm>
          <a:prstGeom prst="rect">
            <a:avLst/>
          </a:prstGeom>
          <a:solidFill>
            <a:srgbClr val="FFFFFF"/>
          </a:solidFill>
          <a:ln w="12700">
            <a:solidFill>
              <a:srgbClr val="E2E8F0"/>
            </a:solidFill>
            <a:prstDash val="solid"/>
          </a:ln>
          <a:effectLst>
            <a:outerShdw blurRad="127000" dist="25400" dir="8100000" algn="bl" rotWithShape="0">
              <a:srgbClr val="000000">
                <a:alpha val="8000"/>
              </a:srgbClr>
            </a:outerShdw>
          </a:effectLst>
        </p:spPr>
      </p:sp>
      <p:sp>
        <p:nvSpPr>
          <p:cNvPr id="24" name="Shape 22">
            <a:extLst>
              <a:ext uri="{FF2B5EF4-FFF2-40B4-BE49-F238E27FC236}">
                <a16:creationId xmlns:a16="http://schemas.microsoft.com/office/drawing/2014/main" id="{ADCD1261-6373-6118-80C7-9801E2CFE680}"/>
              </a:ext>
            </a:extLst>
          </p:cNvPr>
          <p:cNvSpPr/>
          <p:nvPr/>
        </p:nvSpPr>
        <p:spPr>
          <a:xfrm>
            <a:off x="274320" y="2962656"/>
            <a:ext cx="2697480" cy="64008"/>
          </a:xfrm>
          <a:prstGeom prst="rect">
            <a:avLst/>
          </a:prstGeom>
          <a:solidFill>
            <a:srgbClr val="02C39A"/>
          </a:solidFill>
          <a:ln w="12700">
            <a:solidFill>
              <a:srgbClr val="02C39A"/>
            </a:solidFill>
            <a:prstDash val="solid"/>
          </a:ln>
        </p:spPr>
      </p:sp>
      <p:sp>
        <p:nvSpPr>
          <p:cNvPr id="25" name="Shape 23">
            <a:extLst>
              <a:ext uri="{FF2B5EF4-FFF2-40B4-BE49-F238E27FC236}">
                <a16:creationId xmlns:a16="http://schemas.microsoft.com/office/drawing/2014/main" id="{0A267EBD-2B89-1928-236F-B46DC08AE2E6}"/>
              </a:ext>
            </a:extLst>
          </p:cNvPr>
          <p:cNvSpPr/>
          <p:nvPr/>
        </p:nvSpPr>
        <p:spPr>
          <a:xfrm>
            <a:off x="2377440" y="2715768"/>
            <a:ext cx="438912" cy="438912"/>
          </a:xfrm>
          <a:prstGeom prst="ellipse">
            <a:avLst/>
          </a:prstGeom>
          <a:solidFill>
            <a:srgbClr val="02C39A"/>
          </a:solidFill>
          <a:ln w="12700">
            <a:solidFill>
              <a:srgbClr val="02C39A"/>
            </a:solidFill>
            <a:prstDash val="solid"/>
          </a:ln>
        </p:spPr>
      </p:sp>
      <p:sp>
        <p:nvSpPr>
          <p:cNvPr id="26" name="Text 24">
            <a:extLst>
              <a:ext uri="{FF2B5EF4-FFF2-40B4-BE49-F238E27FC236}">
                <a16:creationId xmlns:a16="http://schemas.microsoft.com/office/drawing/2014/main" id="{BA0F0007-DEEA-E6E9-ECC3-64DE4FDB30CC}"/>
              </a:ext>
            </a:extLst>
          </p:cNvPr>
          <p:cNvSpPr/>
          <p:nvPr/>
        </p:nvSpPr>
        <p:spPr>
          <a:xfrm>
            <a:off x="2377440" y="2715768"/>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a:extLst>
              <a:ext uri="{FF2B5EF4-FFF2-40B4-BE49-F238E27FC236}">
                <a16:creationId xmlns:a16="http://schemas.microsoft.com/office/drawing/2014/main" id="{6BDF7F7D-C7DC-B8E8-3845-2793780BD4E2}"/>
              </a:ext>
            </a:extLst>
          </p:cNvPr>
          <p:cNvSpPr/>
          <p:nvPr/>
        </p:nvSpPr>
        <p:spPr>
          <a:xfrm>
            <a:off x="438912" y="3108960"/>
            <a:ext cx="2423160" cy="329184"/>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Handle Missing Values</a:t>
            </a:r>
            <a:endParaRPr lang="en-US" sz="1300" dirty="0"/>
          </a:p>
        </p:txBody>
      </p:sp>
      <p:sp>
        <p:nvSpPr>
          <p:cNvPr id="28" name="Text 26">
            <a:extLst>
              <a:ext uri="{FF2B5EF4-FFF2-40B4-BE49-F238E27FC236}">
                <a16:creationId xmlns:a16="http://schemas.microsoft.com/office/drawing/2014/main" id="{018DF05F-CA1C-A607-FC2B-FE8A1F9011EA}"/>
              </a:ext>
            </a:extLst>
          </p:cNvPr>
          <p:cNvSpPr/>
          <p:nvPr/>
        </p:nvSpPr>
        <p:spPr>
          <a:xfrm>
            <a:off x="438912" y="3493008"/>
            <a:ext cx="2423160" cy="129844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events: product_id→0,</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qty→1, cart_size→0,</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payment→'none'</a:t>
            </a:r>
            <a:endParaRPr lang="en-US" sz="1050" dirty="0"/>
          </a:p>
        </p:txBody>
      </p:sp>
      <p:sp>
        <p:nvSpPr>
          <p:cNvPr id="29" name="Shape 27">
            <a:extLst>
              <a:ext uri="{FF2B5EF4-FFF2-40B4-BE49-F238E27FC236}">
                <a16:creationId xmlns:a16="http://schemas.microsoft.com/office/drawing/2014/main" id="{5100703E-A9CE-13AF-F6E4-BA3978237912}"/>
              </a:ext>
            </a:extLst>
          </p:cNvPr>
          <p:cNvSpPr/>
          <p:nvPr/>
        </p:nvSpPr>
        <p:spPr>
          <a:xfrm>
            <a:off x="3154680" y="2962656"/>
            <a:ext cx="2697480" cy="1956816"/>
          </a:xfrm>
          <a:prstGeom prst="rect">
            <a:avLst/>
          </a:prstGeom>
          <a:solidFill>
            <a:srgbClr val="FFFFFF"/>
          </a:solidFill>
          <a:ln w="12700">
            <a:solidFill>
              <a:srgbClr val="E2E8F0"/>
            </a:solidFill>
            <a:prstDash val="solid"/>
          </a:ln>
          <a:effectLst>
            <a:outerShdw blurRad="127000" dist="25400" dir="8100000" algn="bl" rotWithShape="0">
              <a:srgbClr val="000000">
                <a:alpha val="8000"/>
              </a:srgbClr>
            </a:outerShdw>
          </a:effectLst>
        </p:spPr>
      </p:sp>
      <p:sp>
        <p:nvSpPr>
          <p:cNvPr id="30" name="Shape 28">
            <a:extLst>
              <a:ext uri="{FF2B5EF4-FFF2-40B4-BE49-F238E27FC236}">
                <a16:creationId xmlns:a16="http://schemas.microsoft.com/office/drawing/2014/main" id="{24461CCB-8EC9-6071-5615-65365EB9B798}"/>
              </a:ext>
            </a:extLst>
          </p:cNvPr>
          <p:cNvSpPr/>
          <p:nvPr/>
        </p:nvSpPr>
        <p:spPr>
          <a:xfrm>
            <a:off x="3154680" y="2962656"/>
            <a:ext cx="2697480" cy="64008"/>
          </a:xfrm>
          <a:prstGeom prst="rect">
            <a:avLst/>
          </a:prstGeom>
          <a:solidFill>
            <a:srgbClr val="E76F51"/>
          </a:solidFill>
          <a:ln w="12700">
            <a:solidFill>
              <a:srgbClr val="E76F51"/>
            </a:solidFill>
            <a:prstDash val="solid"/>
          </a:ln>
        </p:spPr>
      </p:sp>
      <p:sp>
        <p:nvSpPr>
          <p:cNvPr id="31" name="Shape 29">
            <a:extLst>
              <a:ext uri="{FF2B5EF4-FFF2-40B4-BE49-F238E27FC236}">
                <a16:creationId xmlns:a16="http://schemas.microsoft.com/office/drawing/2014/main" id="{6361731A-C6EE-C5D5-1ADA-DAEB1CB41F3F}"/>
              </a:ext>
            </a:extLst>
          </p:cNvPr>
          <p:cNvSpPr/>
          <p:nvPr/>
        </p:nvSpPr>
        <p:spPr>
          <a:xfrm>
            <a:off x="5257800" y="2715768"/>
            <a:ext cx="438912" cy="438912"/>
          </a:xfrm>
          <a:prstGeom prst="ellipse">
            <a:avLst/>
          </a:prstGeom>
          <a:solidFill>
            <a:srgbClr val="E76F51"/>
          </a:solidFill>
          <a:ln w="12700">
            <a:solidFill>
              <a:srgbClr val="E76F51"/>
            </a:solidFill>
            <a:prstDash val="solid"/>
          </a:ln>
        </p:spPr>
      </p:sp>
      <p:sp>
        <p:nvSpPr>
          <p:cNvPr id="32" name="Text 30">
            <a:extLst>
              <a:ext uri="{FF2B5EF4-FFF2-40B4-BE49-F238E27FC236}">
                <a16:creationId xmlns:a16="http://schemas.microsoft.com/office/drawing/2014/main" id="{4DA5F1AA-B754-3BA8-4F86-DDB9AFE84EC0}"/>
              </a:ext>
            </a:extLst>
          </p:cNvPr>
          <p:cNvSpPr/>
          <p:nvPr/>
        </p:nvSpPr>
        <p:spPr>
          <a:xfrm>
            <a:off x="5257800" y="2715768"/>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3" name="Text 31">
            <a:extLst>
              <a:ext uri="{FF2B5EF4-FFF2-40B4-BE49-F238E27FC236}">
                <a16:creationId xmlns:a16="http://schemas.microsoft.com/office/drawing/2014/main" id="{301223C5-8F4E-6E95-03B0-4A6BFD86FDBD}"/>
              </a:ext>
            </a:extLst>
          </p:cNvPr>
          <p:cNvSpPr/>
          <p:nvPr/>
        </p:nvSpPr>
        <p:spPr>
          <a:xfrm>
            <a:off x="3319272" y="3108960"/>
            <a:ext cx="2423160" cy="329184"/>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Normalise Product Text</a:t>
            </a:r>
            <a:endParaRPr lang="en-US" sz="1300" dirty="0"/>
          </a:p>
        </p:txBody>
      </p:sp>
      <p:sp>
        <p:nvSpPr>
          <p:cNvPr id="34" name="Text 32">
            <a:extLst>
              <a:ext uri="{FF2B5EF4-FFF2-40B4-BE49-F238E27FC236}">
                <a16:creationId xmlns:a16="http://schemas.microsoft.com/office/drawing/2014/main" id="{C784BD94-7D05-3A71-748E-CCB4C19281C0}"/>
              </a:ext>
            </a:extLst>
          </p:cNvPr>
          <p:cNvSpPr/>
          <p:nvPr/>
        </p:nvSpPr>
        <p:spPr>
          <a:xfrm>
            <a:off x="3319272" y="3493008"/>
            <a:ext cx="2423160" cy="129844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name &amp; category:</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.str.lower().str.strip()</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for clean joins downstream</a:t>
            </a:r>
            <a:endParaRPr lang="en-US" sz="1050" dirty="0"/>
          </a:p>
        </p:txBody>
      </p:sp>
      <p:sp>
        <p:nvSpPr>
          <p:cNvPr id="35" name="Shape 33">
            <a:extLst>
              <a:ext uri="{FF2B5EF4-FFF2-40B4-BE49-F238E27FC236}">
                <a16:creationId xmlns:a16="http://schemas.microsoft.com/office/drawing/2014/main" id="{B275764C-CB41-4FEB-A392-015DC2EAC84C}"/>
              </a:ext>
            </a:extLst>
          </p:cNvPr>
          <p:cNvSpPr/>
          <p:nvPr/>
        </p:nvSpPr>
        <p:spPr>
          <a:xfrm>
            <a:off x="6035040" y="2962656"/>
            <a:ext cx="2697480" cy="1956816"/>
          </a:xfrm>
          <a:prstGeom prst="rect">
            <a:avLst/>
          </a:prstGeom>
          <a:solidFill>
            <a:srgbClr val="FFFFFF"/>
          </a:solidFill>
          <a:ln w="12700">
            <a:solidFill>
              <a:srgbClr val="E2E8F0"/>
            </a:solidFill>
            <a:prstDash val="solid"/>
          </a:ln>
          <a:effectLst>
            <a:outerShdw blurRad="127000" dist="25400" dir="8100000" algn="bl" rotWithShape="0">
              <a:srgbClr val="000000">
                <a:alpha val="8000"/>
              </a:srgbClr>
            </a:outerShdw>
          </a:effectLst>
        </p:spPr>
      </p:sp>
      <p:sp>
        <p:nvSpPr>
          <p:cNvPr id="36" name="Shape 34">
            <a:extLst>
              <a:ext uri="{FF2B5EF4-FFF2-40B4-BE49-F238E27FC236}">
                <a16:creationId xmlns:a16="http://schemas.microsoft.com/office/drawing/2014/main" id="{43DF3FF2-5257-F519-32A6-4C2256A4FA94}"/>
              </a:ext>
            </a:extLst>
          </p:cNvPr>
          <p:cNvSpPr/>
          <p:nvPr/>
        </p:nvSpPr>
        <p:spPr>
          <a:xfrm>
            <a:off x="6035040" y="2962656"/>
            <a:ext cx="2697480" cy="64008"/>
          </a:xfrm>
          <a:prstGeom prst="rect">
            <a:avLst/>
          </a:prstGeom>
          <a:solidFill>
            <a:srgbClr val="185FA5"/>
          </a:solidFill>
          <a:ln w="12700">
            <a:solidFill>
              <a:srgbClr val="185FA5"/>
            </a:solidFill>
            <a:prstDash val="solid"/>
          </a:ln>
        </p:spPr>
      </p:sp>
      <p:sp>
        <p:nvSpPr>
          <p:cNvPr id="37" name="Shape 35">
            <a:extLst>
              <a:ext uri="{FF2B5EF4-FFF2-40B4-BE49-F238E27FC236}">
                <a16:creationId xmlns:a16="http://schemas.microsoft.com/office/drawing/2014/main" id="{F8856C56-0BCA-157F-BDD1-4E1EAF7CD9D5}"/>
              </a:ext>
            </a:extLst>
          </p:cNvPr>
          <p:cNvSpPr/>
          <p:nvPr/>
        </p:nvSpPr>
        <p:spPr>
          <a:xfrm>
            <a:off x="8138160" y="2715768"/>
            <a:ext cx="438912" cy="438912"/>
          </a:xfrm>
          <a:prstGeom prst="ellipse">
            <a:avLst/>
          </a:prstGeom>
          <a:solidFill>
            <a:srgbClr val="185FA5"/>
          </a:solidFill>
          <a:ln w="12700">
            <a:solidFill>
              <a:srgbClr val="185FA5"/>
            </a:solidFill>
            <a:prstDash val="solid"/>
          </a:ln>
        </p:spPr>
      </p:sp>
      <p:sp>
        <p:nvSpPr>
          <p:cNvPr id="38" name="Text 36">
            <a:extLst>
              <a:ext uri="{FF2B5EF4-FFF2-40B4-BE49-F238E27FC236}">
                <a16:creationId xmlns:a16="http://schemas.microsoft.com/office/drawing/2014/main" id="{8972EBCD-E64D-8134-950B-BE1D6E9320A5}"/>
              </a:ext>
            </a:extLst>
          </p:cNvPr>
          <p:cNvSpPr/>
          <p:nvPr/>
        </p:nvSpPr>
        <p:spPr>
          <a:xfrm>
            <a:off x="8138160" y="2715768"/>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9" name="Text 37">
            <a:extLst>
              <a:ext uri="{FF2B5EF4-FFF2-40B4-BE49-F238E27FC236}">
                <a16:creationId xmlns:a16="http://schemas.microsoft.com/office/drawing/2014/main" id="{AE113477-8B92-1072-7114-C0512331C39E}"/>
              </a:ext>
            </a:extLst>
          </p:cNvPr>
          <p:cNvSpPr/>
          <p:nvPr/>
        </p:nvSpPr>
        <p:spPr>
          <a:xfrm>
            <a:off x="6199632" y="3108960"/>
            <a:ext cx="2423160" cy="329184"/>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Save Cleaned Files</a:t>
            </a:r>
            <a:endParaRPr lang="en-US" sz="1300" dirty="0"/>
          </a:p>
        </p:txBody>
      </p:sp>
      <p:sp>
        <p:nvSpPr>
          <p:cNvPr id="40" name="Text 38">
            <a:extLst>
              <a:ext uri="{FF2B5EF4-FFF2-40B4-BE49-F238E27FC236}">
                <a16:creationId xmlns:a16="http://schemas.microsoft.com/office/drawing/2014/main" id="{FC6D3E40-9E76-BCD4-8556-E06FAC21337C}"/>
              </a:ext>
            </a:extLst>
          </p:cNvPr>
          <p:cNvSpPr/>
          <p:nvPr/>
        </p:nvSpPr>
        <p:spPr>
          <a:xfrm>
            <a:off x="6199632" y="3493008"/>
            <a:ext cx="2423160" cy="129844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7 CSVs saved to</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/data/processed/</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ready for next pipeline step</a:t>
            </a:r>
            <a:endParaRPr lang="en-US" sz="1050" dirty="0"/>
          </a:p>
        </p:txBody>
      </p:sp>
    </p:spTree>
    <p:extLst>
      <p:ext uri="{BB962C8B-B14F-4D97-AF65-F5344CB8AC3E}">
        <p14:creationId xmlns:p14="http://schemas.microsoft.com/office/powerpoint/2010/main" val="1516985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hape 27">
            <a:extLst>
              <a:ext uri="{FF2B5EF4-FFF2-40B4-BE49-F238E27FC236}">
                <a16:creationId xmlns:a16="http://schemas.microsoft.com/office/drawing/2014/main" id="{0B3CC92C-236E-B83B-9E33-7817EA03384E}"/>
              </a:ext>
            </a:extLst>
          </p:cNvPr>
          <p:cNvSpPr/>
          <p:nvPr/>
        </p:nvSpPr>
        <p:spPr>
          <a:xfrm>
            <a:off x="457200" y="2517882"/>
            <a:ext cx="3749040" cy="347472"/>
          </a:xfrm>
          <a:prstGeom prst="rect">
            <a:avLst/>
          </a:prstGeom>
          <a:solidFill>
            <a:srgbClr val="FFFFFF"/>
          </a:solidFill>
          <a:ln w="12700">
            <a:solidFill>
              <a:srgbClr val="E2E8F0"/>
            </a:solidFill>
            <a:prstDash val="solid"/>
          </a:ln>
        </p:spPr>
      </p:sp>
      <p:sp>
        <p:nvSpPr>
          <p:cNvPr id="2" name="Shape 0">
            <a:extLst>
              <a:ext uri="{FF2B5EF4-FFF2-40B4-BE49-F238E27FC236}">
                <a16:creationId xmlns:a16="http://schemas.microsoft.com/office/drawing/2014/main" id="{5D11C551-1BAF-9404-D0CC-AE3F67CAD8DD}"/>
              </a:ext>
            </a:extLst>
          </p:cNvPr>
          <p:cNvSpPr/>
          <p:nvPr/>
        </p:nvSpPr>
        <p:spPr>
          <a:xfrm>
            <a:off x="0" y="0"/>
            <a:ext cx="9144000" cy="658368"/>
          </a:xfrm>
          <a:prstGeom prst="rect">
            <a:avLst/>
          </a:prstGeom>
          <a:solidFill>
            <a:srgbClr val="0D1B3E"/>
          </a:solidFill>
          <a:ln w="12700">
            <a:solidFill>
              <a:srgbClr val="0D1B3E"/>
            </a:solidFill>
            <a:prstDash val="solid"/>
          </a:ln>
        </p:spPr>
      </p:sp>
      <p:sp>
        <p:nvSpPr>
          <p:cNvPr id="3" name="Text 1">
            <a:extLst>
              <a:ext uri="{FF2B5EF4-FFF2-40B4-BE49-F238E27FC236}">
                <a16:creationId xmlns:a16="http://schemas.microsoft.com/office/drawing/2014/main" id="{52FD9BED-A1C6-840D-4F3B-4E2BC94DFC13}"/>
              </a:ext>
            </a:extLst>
          </p:cNvPr>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Feature Engineering</a:t>
            </a:r>
            <a:endParaRPr lang="en-US" sz="2200" dirty="0"/>
          </a:p>
        </p:txBody>
      </p:sp>
      <p:sp>
        <p:nvSpPr>
          <p:cNvPr id="4" name="Text 2">
            <a:extLst>
              <a:ext uri="{FF2B5EF4-FFF2-40B4-BE49-F238E27FC236}">
                <a16:creationId xmlns:a16="http://schemas.microsoft.com/office/drawing/2014/main" id="{EED892B3-8AAB-BFC8-775C-15270AA773A5}"/>
              </a:ext>
            </a:extLst>
          </p:cNvPr>
          <p:cNvSpPr/>
          <p:nvPr/>
        </p:nvSpPr>
        <p:spPr>
          <a:xfrm>
            <a:off x="5943600" y="0"/>
            <a:ext cx="2926080" cy="658368"/>
          </a:xfrm>
          <a:prstGeom prst="rect">
            <a:avLst/>
          </a:prstGeom>
          <a:noFill/>
          <a:ln/>
        </p:spPr>
        <p:txBody>
          <a:bodyPr wrap="square" lIns="0" tIns="0" rIns="0" bIns="0" rtlCol="0" anchor="ctr"/>
          <a:lstStyle/>
          <a:p>
            <a:pPr algn="r"/>
            <a:r>
              <a:rPr lang="en-US" sz="1100" i="1" dirty="0" err="1">
                <a:solidFill>
                  <a:srgbClr val="A0AEC0"/>
                </a:solidFill>
                <a:latin typeface="Calibri" pitchFamily="34" charset="0"/>
                <a:ea typeface="Calibri" pitchFamily="34" charset="-122"/>
                <a:cs typeface="Calibri" pitchFamily="34" charset="-120"/>
              </a:rPr>
              <a:t>customer_segmentation.ipynb</a:t>
            </a:r>
            <a:endParaRPr lang="en-US" sz="1100" dirty="0"/>
          </a:p>
        </p:txBody>
      </p:sp>
      <p:sp>
        <p:nvSpPr>
          <p:cNvPr id="6" name="Shape 4">
            <a:extLst>
              <a:ext uri="{FF2B5EF4-FFF2-40B4-BE49-F238E27FC236}">
                <a16:creationId xmlns:a16="http://schemas.microsoft.com/office/drawing/2014/main" id="{9CF8CC44-6C2F-A22C-59B6-5FE68D85BBD0}"/>
              </a:ext>
            </a:extLst>
          </p:cNvPr>
          <p:cNvSpPr/>
          <p:nvPr/>
        </p:nvSpPr>
        <p:spPr>
          <a:xfrm>
            <a:off x="274320" y="822960"/>
            <a:ext cx="4114800" cy="64008"/>
          </a:xfrm>
          <a:prstGeom prst="rect">
            <a:avLst/>
          </a:prstGeom>
          <a:solidFill>
            <a:srgbClr val="028090"/>
          </a:solidFill>
          <a:ln w="12700">
            <a:solidFill>
              <a:srgbClr val="028090"/>
            </a:solidFill>
            <a:prstDash val="solid"/>
          </a:ln>
        </p:spPr>
      </p:sp>
      <p:sp>
        <p:nvSpPr>
          <p:cNvPr id="7" name="Text 5">
            <a:extLst>
              <a:ext uri="{FF2B5EF4-FFF2-40B4-BE49-F238E27FC236}">
                <a16:creationId xmlns:a16="http://schemas.microsoft.com/office/drawing/2014/main" id="{96AD06DA-7E78-C55C-9C00-E09BD5771FBB}"/>
              </a:ext>
            </a:extLst>
          </p:cNvPr>
          <p:cNvSpPr/>
          <p:nvPr/>
        </p:nvSpPr>
        <p:spPr>
          <a:xfrm>
            <a:off x="457200" y="896112"/>
            <a:ext cx="3749040" cy="329184"/>
          </a:xfrm>
          <a:prstGeom prst="rect">
            <a:avLst/>
          </a:prstGeom>
          <a:noFill/>
          <a:ln/>
        </p:spPr>
        <p:txBody>
          <a:bodyPr wrap="square" lIns="0" tIns="0" rIns="0" bIns="0"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Customer Features (RFM)</a:t>
            </a:r>
            <a:endParaRPr lang="en-US" sz="1300" dirty="0"/>
          </a:p>
        </p:txBody>
      </p:sp>
      <p:sp>
        <p:nvSpPr>
          <p:cNvPr id="8" name="Shape 6">
            <a:extLst>
              <a:ext uri="{FF2B5EF4-FFF2-40B4-BE49-F238E27FC236}">
                <a16:creationId xmlns:a16="http://schemas.microsoft.com/office/drawing/2014/main" id="{0D448B87-0BA3-6330-3379-77A70E89ADAF}"/>
              </a:ext>
            </a:extLst>
          </p:cNvPr>
          <p:cNvSpPr/>
          <p:nvPr/>
        </p:nvSpPr>
        <p:spPr>
          <a:xfrm>
            <a:off x="457200" y="1298448"/>
            <a:ext cx="3749040" cy="347472"/>
          </a:xfrm>
          <a:prstGeom prst="rect">
            <a:avLst/>
          </a:prstGeom>
          <a:solidFill>
            <a:srgbClr val="F0FAFA"/>
          </a:solidFill>
          <a:ln w="12700">
            <a:solidFill>
              <a:srgbClr val="E2E8F0"/>
            </a:solidFill>
            <a:prstDash val="solid"/>
          </a:ln>
        </p:spPr>
      </p:sp>
      <p:sp>
        <p:nvSpPr>
          <p:cNvPr id="9" name="Text 7">
            <a:extLst>
              <a:ext uri="{FF2B5EF4-FFF2-40B4-BE49-F238E27FC236}">
                <a16:creationId xmlns:a16="http://schemas.microsoft.com/office/drawing/2014/main" id="{C7E59BC9-35EE-A312-6BF2-5AE0A1BF44EC}"/>
              </a:ext>
            </a:extLst>
          </p:cNvPr>
          <p:cNvSpPr/>
          <p:nvPr/>
        </p:nvSpPr>
        <p:spPr>
          <a:xfrm>
            <a:off x="548640" y="1298448"/>
            <a:ext cx="1481328" cy="347472"/>
          </a:xfrm>
          <a:prstGeom prst="rect">
            <a:avLst/>
          </a:prstGeom>
          <a:noFill/>
          <a:ln/>
        </p:spPr>
        <p:txBody>
          <a:bodyPr wrap="square" lIns="0" tIns="0" rIns="0" bIns="0"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recency</a:t>
            </a:r>
            <a:endParaRPr lang="en-US" sz="1000" dirty="0"/>
          </a:p>
        </p:txBody>
      </p:sp>
      <p:sp>
        <p:nvSpPr>
          <p:cNvPr id="10" name="Text 8">
            <a:extLst>
              <a:ext uri="{FF2B5EF4-FFF2-40B4-BE49-F238E27FC236}">
                <a16:creationId xmlns:a16="http://schemas.microsoft.com/office/drawing/2014/main" id="{0289C91E-F10C-D682-56D7-BA49C164F567}"/>
              </a:ext>
            </a:extLst>
          </p:cNvPr>
          <p:cNvSpPr/>
          <p:nvPr/>
        </p:nvSpPr>
        <p:spPr>
          <a:xfrm>
            <a:off x="2103120" y="1298448"/>
            <a:ext cx="1993392" cy="34747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Days since last order</a:t>
            </a:r>
            <a:endParaRPr lang="en-US" sz="1000" dirty="0"/>
          </a:p>
        </p:txBody>
      </p:sp>
      <p:sp>
        <p:nvSpPr>
          <p:cNvPr id="11" name="Shape 9">
            <a:extLst>
              <a:ext uri="{FF2B5EF4-FFF2-40B4-BE49-F238E27FC236}">
                <a16:creationId xmlns:a16="http://schemas.microsoft.com/office/drawing/2014/main" id="{B24521C0-9AC9-9982-606D-A1EE424472E0}"/>
              </a:ext>
            </a:extLst>
          </p:cNvPr>
          <p:cNvSpPr/>
          <p:nvPr/>
        </p:nvSpPr>
        <p:spPr>
          <a:xfrm>
            <a:off x="457200" y="1691640"/>
            <a:ext cx="3749040" cy="347472"/>
          </a:xfrm>
          <a:prstGeom prst="rect">
            <a:avLst/>
          </a:prstGeom>
          <a:solidFill>
            <a:srgbClr val="FFFFFF"/>
          </a:solidFill>
          <a:ln w="12700">
            <a:solidFill>
              <a:srgbClr val="E2E8F0"/>
            </a:solidFill>
            <a:prstDash val="solid"/>
          </a:ln>
        </p:spPr>
      </p:sp>
      <p:sp>
        <p:nvSpPr>
          <p:cNvPr id="12" name="Text 10">
            <a:extLst>
              <a:ext uri="{FF2B5EF4-FFF2-40B4-BE49-F238E27FC236}">
                <a16:creationId xmlns:a16="http://schemas.microsoft.com/office/drawing/2014/main" id="{208E970F-7C8D-7ADF-696E-325E553F544D}"/>
              </a:ext>
            </a:extLst>
          </p:cNvPr>
          <p:cNvSpPr/>
          <p:nvPr/>
        </p:nvSpPr>
        <p:spPr>
          <a:xfrm>
            <a:off x="548640" y="1691640"/>
            <a:ext cx="1481328" cy="347472"/>
          </a:xfrm>
          <a:prstGeom prst="rect">
            <a:avLst/>
          </a:prstGeom>
          <a:noFill/>
          <a:ln/>
        </p:spPr>
        <p:txBody>
          <a:bodyPr wrap="square" lIns="0" tIns="0" rIns="0" bIns="0"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frequency</a:t>
            </a:r>
            <a:endParaRPr lang="en-US" sz="1000" dirty="0"/>
          </a:p>
        </p:txBody>
      </p:sp>
      <p:sp>
        <p:nvSpPr>
          <p:cNvPr id="13" name="Text 11">
            <a:extLst>
              <a:ext uri="{FF2B5EF4-FFF2-40B4-BE49-F238E27FC236}">
                <a16:creationId xmlns:a16="http://schemas.microsoft.com/office/drawing/2014/main" id="{906ABDE5-7F9E-5C1A-9228-6CC7F605A994}"/>
              </a:ext>
            </a:extLst>
          </p:cNvPr>
          <p:cNvSpPr/>
          <p:nvPr/>
        </p:nvSpPr>
        <p:spPr>
          <a:xfrm>
            <a:off x="2103120" y="1691640"/>
            <a:ext cx="1993392" cy="34747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Number of orders placed</a:t>
            </a:r>
            <a:endParaRPr lang="en-US" sz="1000" dirty="0"/>
          </a:p>
        </p:txBody>
      </p:sp>
      <p:sp>
        <p:nvSpPr>
          <p:cNvPr id="14" name="Shape 12">
            <a:extLst>
              <a:ext uri="{FF2B5EF4-FFF2-40B4-BE49-F238E27FC236}">
                <a16:creationId xmlns:a16="http://schemas.microsoft.com/office/drawing/2014/main" id="{04903139-2E38-F512-FBAB-64D4B67FB0D5}"/>
              </a:ext>
            </a:extLst>
          </p:cNvPr>
          <p:cNvSpPr/>
          <p:nvPr/>
        </p:nvSpPr>
        <p:spPr>
          <a:xfrm>
            <a:off x="457200" y="2084832"/>
            <a:ext cx="3749040" cy="347472"/>
          </a:xfrm>
          <a:prstGeom prst="rect">
            <a:avLst/>
          </a:prstGeom>
          <a:solidFill>
            <a:srgbClr val="F0FAFA"/>
          </a:solidFill>
          <a:ln w="12700">
            <a:solidFill>
              <a:srgbClr val="E2E8F0"/>
            </a:solidFill>
            <a:prstDash val="solid"/>
          </a:ln>
        </p:spPr>
      </p:sp>
      <p:sp>
        <p:nvSpPr>
          <p:cNvPr id="15" name="Text 13">
            <a:extLst>
              <a:ext uri="{FF2B5EF4-FFF2-40B4-BE49-F238E27FC236}">
                <a16:creationId xmlns:a16="http://schemas.microsoft.com/office/drawing/2014/main" id="{8E8984A3-75AA-F104-6F51-7531AE10410E}"/>
              </a:ext>
            </a:extLst>
          </p:cNvPr>
          <p:cNvSpPr/>
          <p:nvPr/>
        </p:nvSpPr>
        <p:spPr>
          <a:xfrm>
            <a:off x="548640" y="2084832"/>
            <a:ext cx="1481328" cy="347472"/>
          </a:xfrm>
          <a:prstGeom prst="rect">
            <a:avLst/>
          </a:prstGeom>
          <a:noFill/>
          <a:ln/>
        </p:spPr>
        <p:txBody>
          <a:bodyPr wrap="square" lIns="0" tIns="0" rIns="0" bIns="0"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monetary</a:t>
            </a:r>
            <a:endParaRPr lang="en-US" sz="1000" dirty="0"/>
          </a:p>
        </p:txBody>
      </p:sp>
      <p:sp>
        <p:nvSpPr>
          <p:cNvPr id="16" name="Text 14">
            <a:extLst>
              <a:ext uri="{FF2B5EF4-FFF2-40B4-BE49-F238E27FC236}">
                <a16:creationId xmlns:a16="http://schemas.microsoft.com/office/drawing/2014/main" id="{6337D6E5-C6C8-2D03-1D9A-F0A9B23BAF1E}"/>
              </a:ext>
            </a:extLst>
          </p:cNvPr>
          <p:cNvSpPr/>
          <p:nvPr/>
        </p:nvSpPr>
        <p:spPr>
          <a:xfrm>
            <a:off x="2103120" y="2084832"/>
            <a:ext cx="1993392" cy="34747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Total USD spend</a:t>
            </a:r>
            <a:endParaRPr lang="en-US" sz="1000" dirty="0"/>
          </a:p>
        </p:txBody>
      </p:sp>
      <p:sp>
        <p:nvSpPr>
          <p:cNvPr id="26" name="Shape 24">
            <a:extLst>
              <a:ext uri="{FF2B5EF4-FFF2-40B4-BE49-F238E27FC236}">
                <a16:creationId xmlns:a16="http://schemas.microsoft.com/office/drawing/2014/main" id="{F62C9F97-B432-797B-0D5B-C9B70EF1517B}"/>
              </a:ext>
            </a:extLst>
          </p:cNvPr>
          <p:cNvSpPr/>
          <p:nvPr/>
        </p:nvSpPr>
        <p:spPr>
          <a:xfrm>
            <a:off x="457200" y="2926080"/>
            <a:ext cx="3749040" cy="347472"/>
          </a:xfrm>
          <a:prstGeom prst="rect">
            <a:avLst/>
          </a:prstGeom>
          <a:solidFill>
            <a:srgbClr val="F0FAFA"/>
          </a:solidFill>
          <a:ln w="12700">
            <a:solidFill>
              <a:srgbClr val="E2E8F0"/>
            </a:solidFill>
            <a:prstDash val="solid"/>
          </a:ln>
        </p:spPr>
      </p:sp>
      <p:sp>
        <p:nvSpPr>
          <p:cNvPr id="27" name="Text 25">
            <a:extLst>
              <a:ext uri="{FF2B5EF4-FFF2-40B4-BE49-F238E27FC236}">
                <a16:creationId xmlns:a16="http://schemas.microsoft.com/office/drawing/2014/main" id="{57BB3323-D3AB-DDF1-FE1B-00833F28211D}"/>
              </a:ext>
            </a:extLst>
          </p:cNvPr>
          <p:cNvSpPr/>
          <p:nvPr/>
        </p:nvSpPr>
        <p:spPr>
          <a:xfrm>
            <a:off x="548640" y="2492796"/>
            <a:ext cx="1481328" cy="347472"/>
          </a:xfrm>
          <a:prstGeom prst="rect">
            <a:avLst/>
          </a:prstGeom>
          <a:noFill/>
          <a:ln/>
        </p:spPr>
        <p:txBody>
          <a:bodyPr wrap="square" lIns="0" tIns="0" rIns="0" bIns="0"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RFM_total</a:t>
            </a:r>
            <a:endParaRPr lang="en-US" sz="1000" dirty="0"/>
          </a:p>
        </p:txBody>
      </p:sp>
      <p:sp>
        <p:nvSpPr>
          <p:cNvPr id="28" name="Text 26">
            <a:extLst>
              <a:ext uri="{FF2B5EF4-FFF2-40B4-BE49-F238E27FC236}">
                <a16:creationId xmlns:a16="http://schemas.microsoft.com/office/drawing/2014/main" id="{D1773CAE-C970-3918-71DD-A60C295EEFD5}"/>
              </a:ext>
            </a:extLst>
          </p:cNvPr>
          <p:cNvSpPr/>
          <p:nvPr/>
        </p:nvSpPr>
        <p:spPr>
          <a:xfrm>
            <a:off x="2103120" y="2492796"/>
            <a:ext cx="1993392" cy="34747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Sum of R + F + M scores</a:t>
            </a:r>
            <a:endParaRPr lang="en-US" sz="1000" dirty="0"/>
          </a:p>
        </p:txBody>
      </p:sp>
      <p:sp>
        <p:nvSpPr>
          <p:cNvPr id="30" name="Text 28">
            <a:extLst>
              <a:ext uri="{FF2B5EF4-FFF2-40B4-BE49-F238E27FC236}">
                <a16:creationId xmlns:a16="http://schemas.microsoft.com/office/drawing/2014/main" id="{40D2AE38-C0BD-F0E0-D01C-2C45A3193966}"/>
              </a:ext>
            </a:extLst>
          </p:cNvPr>
          <p:cNvSpPr/>
          <p:nvPr/>
        </p:nvSpPr>
        <p:spPr>
          <a:xfrm>
            <a:off x="539496" y="2900760"/>
            <a:ext cx="1481328" cy="347472"/>
          </a:xfrm>
          <a:prstGeom prst="rect">
            <a:avLst/>
          </a:prstGeom>
          <a:noFill/>
          <a:ln/>
        </p:spPr>
        <p:txBody>
          <a:bodyPr wrap="square" lIns="0" tIns="0" rIns="0" bIns="0"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customer_segment</a:t>
            </a:r>
            <a:endParaRPr lang="en-US" sz="1000" dirty="0"/>
          </a:p>
        </p:txBody>
      </p:sp>
      <p:sp>
        <p:nvSpPr>
          <p:cNvPr id="31" name="Text 29">
            <a:extLst>
              <a:ext uri="{FF2B5EF4-FFF2-40B4-BE49-F238E27FC236}">
                <a16:creationId xmlns:a16="http://schemas.microsoft.com/office/drawing/2014/main" id="{14FE6B1B-F5EB-EA73-8B06-003E5B7AA8B3}"/>
              </a:ext>
            </a:extLst>
          </p:cNvPr>
          <p:cNvSpPr/>
          <p:nvPr/>
        </p:nvSpPr>
        <p:spPr>
          <a:xfrm>
            <a:off x="2103120" y="2900760"/>
            <a:ext cx="1993392" cy="34747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Rule-based label (4 types)</a:t>
            </a:r>
            <a:endParaRPr lang="en-US" sz="1000" dirty="0"/>
          </a:p>
        </p:txBody>
      </p:sp>
      <p:sp>
        <p:nvSpPr>
          <p:cNvPr id="32" name="Shape 30">
            <a:extLst>
              <a:ext uri="{FF2B5EF4-FFF2-40B4-BE49-F238E27FC236}">
                <a16:creationId xmlns:a16="http://schemas.microsoft.com/office/drawing/2014/main" id="{979B300D-FA18-A4D0-F0FE-9545EF6406B3}"/>
              </a:ext>
            </a:extLst>
          </p:cNvPr>
          <p:cNvSpPr/>
          <p:nvPr/>
        </p:nvSpPr>
        <p:spPr>
          <a:xfrm>
            <a:off x="4663440" y="822960"/>
            <a:ext cx="4206240" cy="2103120"/>
          </a:xfrm>
          <a:prstGeom prst="rect">
            <a:avLst/>
          </a:prstGeom>
          <a:solidFill>
            <a:srgbClr val="FFFFFF"/>
          </a:solidFill>
          <a:ln w="12700">
            <a:solidFill>
              <a:srgbClr val="E2E8F0"/>
            </a:solidFill>
            <a:prstDash val="solid"/>
          </a:ln>
          <a:effectLst>
            <a:outerShdw blurRad="127000" dist="25400" dir="8100000" algn="bl" rotWithShape="0">
              <a:srgbClr val="000000">
                <a:alpha val="8000"/>
              </a:srgbClr>
            </a:outerShdw>
          </a:effectLst>
        </p:spPr>
      </p:sp>
      <p:sp>
        <p:nvSpPr>
          <p:cNvPr id="33" name="Shape 31">
            <a:extLst>
              <a:ext uri="{FF2B5EF4-FFF2-40B4-BE49-F238E27FC236}">
                <a16:creationId xmlns:a16="http://schemas.microsoft.com/office/drawing/2014/main" id="{F488C9FC-1A15-8707-8261-EC2E714BB30B}"/>
              </a:ext>
            </a:extLst>
          </p:cNvPr>
          <p:cNvSpPr/>
          <p:nvPr/>
        </p:nvSpPr>
        <p:spPr>
          <a:xfrm>
            <a:off x="4663440" y="822960"/>
            <a:ext cx="4206240" cy="64008"/>
          </a:xfrm>
          <a:prstGeom prst="rect">
            <a:avLst/>
          </a:prstGeom>
          <a:solidFill>
            <a:srgbClr val="F4A261"/>
          </a:solidFill>
          <a:ln w="12700">
            <a:solidFill>
              <a:srgbClr val="F4A261"/>
            </a:solidFill>
            <a:prstDash val="solid"/>
          </a:ln>
        </p:spPr>
      </p:sp>
      <p:sp>
        <p:nvSpPr>
          <p:cNvPr id="34" name="Text 32">
            <a:extLst>
              <a:ext uri="{FF2B5EF4-FFF2-40B4-BE49-F238E27FC236}">
                <a16:creationId xmlns:a16="http://schemas.microsoft.com/office/drawing/2014/main" id="{2CFBA037-5EE6-1338-B6E1-7E810A9F8C46}"/>
              </a:ext>
            </a:extLst>
          </p:cNvPr>
          <p:cNvSpPr/>
          <p:nvPr/>
        </p:nvSpPr>
        <p:spPr>
          <a:xfrm>
            <a:off x="4864608" y="896112"/>
            <a:ext cx="3840480" cy="329184"/>
          </a:xfrm>
          <a:prstGeom prst="rect">
            <a:avLst/>
          </a:prstGeom>
          <a:noFill/>
          <a:ln/>
        </p:spPr>
        <p:txBody>
          <a:bodyPr wrap="square" lIns="0" tIns="0" rIns="0" bIns="0" rtlCol="0" anchor="ctr"/>
          <a:lstStyle/>
          <a:p>
            <a:pPr marL="0" indent="0">
              <a:buNone/>
            </a:pPr>
            <a:r>
              <a:rPr lang="en-US" sz="1300" b="1" dirty="0">
                <a:solidFill>
                  <a:srgbClr val="F4A261"/>
                </a:solidFill>
                <a:latin typeface="Calibri" pitchFamily="34" charset="0"/>
                <a:ea typeface="Calibri" pitchFamily="34" charset="-122"/>
                <a:cs typeface="Calibri" pitchFamily="34" charset="-120"/>
              </a:rPr>
              <a:t>Product Features</a:t>
            </a:r>
            <a:endParaRPr lang="en-US" sz="1300" dirty="0"/>
          </a:p>
        </p:txBody>
      </p:sp>
      <p:sp>
        <p:nvSpPr>
          <p:cNvPr id="35" name="Shape 33">
            <a:extLst>
              <a:ext uri="{FF2B5EF4-FFF2-40B4-BE49-F238E27FC236}">
                <a16:creationId xmlns:a16="http://schemas.microsoft.com/office/drawing/2014/main" id="{DF2464A0-0EE7-C332-773F-B80220081418}"/>
              </a:ext>
            </a:extLst>
          </p:cNvPr>
          <p:cNvSpPr/>
          <p:nvPr/>
        </p:nvSpPr>
        <p:spPr>
          <a:xfrm>
            <a:off x="4864608" y="1298448"/>
            <a:ext cx="3840480" cy="347472"/>
          </a:xfrm>
          <a:prstGeom prst="rect">
            <a:avLst/>
          </a:prstGeom>
          <a:solidFill>
            <a:srgbClr val="FFFAF0"/>
          </a:solidFill>
          <a:ln w="12700">
            <a:solidFill>
              <a:srgbClr val="E2E8F0"/>
            </a:solidFill>
            <a:prstDash val="solid"/>
          </a:ln>
        </p:spPr>
      </p:sp>
      <p:sp>
        <p:nvSpPr>
          <p:cNvPr id="36" name="Text 34">
            <a:extLst>
              <a:ext uri="{FF2B5EF4-FFF2-40B4-BE49-F238E27FC236}">
                <a16:creationId xmlns:a16="http://schemas.microsoft.com/office/drawing/2014/main" id="{F14BFB80-69B3-444B-C366-9E6FDB749730}"/>
              </a:ext>
            </a:extLst>
          </p:cNvPr>
          <p:cNvSpPr/>
          <p:nvPr/>
        </p:nvSpPr>
        <p:spPr>
          <a:xfrm>
            <a:off x="4956048" y="1298448"/>
            <a:ext cx="1627632" cy="347472"/>
          </a:xfrm>
          <a:prstGeom prst="rect">
            <a:avLst/>
          </a:prstGeom>
          <a:noFill/>
          <a:ln/>
        </p:spPr>
        <p:txBody>
          <a:bodyPr wrap="square" lIns="0" tIns="0" rIns="0" bIns="0" rtlCol="0" anchor="ctr"/>
          <a:lstStyle/>
          <a:p>
            <a:pPr marL="0" indent="0">
              <a:buNone/>
            </a:pPr>
            <a:r>
              <a:rPr lang="en-US" sz="1000" b="1" dirty="0">
                <a:solidFill>
                  <a:srgbClr val="F4A261"/>
                </a:solidFill>
                <a:latin typeface="Calibri" pitchFamily="34" charset="0"/>
                <a:ea typeface="Calibri" pitchFamily="34" charset="-122"/>
                <a:cs typeface="Calibri" pitchFamily="34" charset="-120"/>
              </a:rPr>
              <a:t>popularity_score</a:t>
            </a:r>
            <a:endParaRPr lang="en-US" sz="1000" dirty="0"/>
          </a:p>
        </p:txBody>
      </p:sp>
      <p:sp>
        <p:nvSpPr>
          <p:cNvPr id="37" name="Text 35">
            <a:extLst>
              <a:ext uri="{FF2B5EF4-FFF2-40B4-BE49-F238E27FC236}">
                <a16:creationId xmlns:a16="http://schemas.microsoft.com/office/drawing/2014/main" id="{43138276-DB2F-2E58-5243-EB3348703064}"/>
              </a:ext>
            </a:extLst>
          </p:cNvPr>
          <p:cNvSpPr/>
          <p:nvPr/>
        </p:nvSpPr>
        <p:spPr>
          <a:xfrm>
            <a:off x="6656832" y="1298448"/>
            <a:ext cx="1783080" cy="34747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Sum of quantities sold per product</a:t>
            </a:r>
            <a:endParaRPr lang="en-US" sz="1000" dirty="0"/>
          </a:p>
        </p:txBody>
      </p:sp>
      <p:sp>
        <p:nvSpPr>
          <p:cNvPr id="38" name="Shape 36">
            <a:extLst>
              <a:ext uri="{FF2B5EF4-FFF2-40B4-BE49-F238E27FC236}">
                <a16:creationId xmlns:a16="http://schemas.microsoft.com/office/drawing/2014/main" id="{D329DE8D-2F01-A585-66E4-4F11D25DC33D}"/>
              </a:ext>
            </a:extLst>
          </p:cNvPr>
          <p:cNvSpPr/>
          <p:nvPr/>
        </p:nvSpPr>
        <p:spPr>
          <a:xfrm>
            <a:off x="4864608" y="1691640"/>
            <a:ext cx="3840480" cy="347472"/>
          </a:xfrm>
          <a:prstGeom prst="rect">
            <a:avLst/>
          </a:prstGeom>
          <a:solidFill>
            <a:srgbClr val="FFFFFF"/>
          </a:solidFill>
          <a:ln w="12700">
            <a:solidFill>
              <a:srgbClr val="E2E8F0"/>
            </a:solidFill>
            <a:prstDash val="solid"/>
          </a:ln>
        </p:spPr>
      </p:sp>
      <p:sp>
        <p:nvSpPr>
          <p:cNvPr id="39" name="Text 37">
            <a:extLst>
              <a:ext uri="{FF2B5EF4-FFF2-40B4-BE49-F238E27FC236}">
                <a16:creationId xmlns:a16="http://schemas.microsoft.com/office/drawing/2014/main" id="{C831B4C0-8829-556A-1F99-BA61E113DA3E}"/>
              </a:ext>
            </a:extLst>
          </p:cNvPr>
          <p:cNvSpPr/>
          <p:nvPr/>
        </p:nvSpPr>
        <p:spPr>
          <a:xfrm>
            <a:off x="4956048" y="1691640"/>
            <a:ext cx="1627632" cy="347472"/>
          </a:xfrm>
          <a:prstGeom prst="rect">
            <a:avLst/>
          </a:prstGeom>
          <a:noFill/>
          <a:ln/>
        </p:spPr>
        <p:txBody>
          <a:bodyPr wrap="square" lIns="0" tIns="0" rIns="0" bIns="0" rtlCol="0" anchor="ctr"/>
          <a:lstStyle/>
          <a:p>
            <a:pPr marL="0" indent="0">
              <a:buNone/>
            </a:pPr>
            <a:r>
              <a:rPr lang="en-US" sz="1000" b="1" dirty="0">
                <a:solidFill>
                  <a:srgbClr val="F4A261"/>
                </a:solidFill>
                <a:latin typeface="Calibri" pitchFamily="34" charset="0"/>
                <a:ea typeface="Calibri" pitchFamily="34" charset="-122"/>
                <a:cs typeface="Calibri" pitchFamily="34" charset="-120"/>
              </a:rPr>
              <a:t>avg_rating</a:t>
            </a:r>
            <a:endParaRPr lang="en-US" sz="1000" dirty="0"/>
          </a:p>
        </p:txBody>
      </p:sp>
      <p:sp>
        <p:nvSpPr>
          <p:cNvPr id="40" name="Text 38">
            <a:extLst>
              <a:ext uri="{FF2B5EF4-FFF2-40B4-BE49-F238E27FC236}">
                <a16:creationId xmlns:a16="http://schemas.microsoft.com/office/drawing/2014/main" id="{099DC936-21EB-48D8-4B47-3D4F179259A8}"/>
              </a:ext>
            </a:extLst>
          </p:cNvPr>
          <p:cNvSpPr/>
          <p:nvPr/>
        </p:nvSpPr>
        <p:spPr>
          <a:xfrm>
            <a:off x="6656832" y="1691640"/>
            <a:ext cx="1783080" cy="34747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Mean review rating from reviews.csv</a:t>
            </a:r>
            <a:endParaRPr lang="en-US" sz="1000" dirty="0"/>
          </a:p>
        </p:txBody>
      </p:sp>
      <p:sp>
        <p:nvSpPr>
          <p:cNvPr id="41" name="Shape 39">
            <a:extLst>
              <a:ext uri="{FF2B5EF4-FFF2-40B4-BE49-F238E27FC236}">
                <a16:creationId xmlns:a16="http://schemas.microsoft.com/office/drawing/2014/main" id="{277FC93D-F4A1-C677-65BD-E462B2089B9B}"/>
              </a:ext>
            </a:extLst>
          </p:cNvPr>
          <p:cNvSpPr/>
          <p:nvPr/>
        </p:nvSpPr>
        <p:spPr>
          <a:xfrm>
            <a:off x="4864608" y="2084832"/>
            <a:ext cx="3840480" cy="347472"/>
          </a:xfrm>
          <a:prstGeom prst="rect">
            <a:avLst/>
          </a:prstGeom>
          <a:solidFill>
            <a:srgbClr val="FFFAF0"/>
          </a:solidFill>
          <a:ln w="12700">
            <a:solidFill>
              <a:srgbClr val="E2E8F0"/>
            </a:solidFill>
            <a:prstDash val="solid"/>
          </a:ln>
        </p:spPr>
      </p:sp>
      <p:sp>
        <p:nvSpPr>
          <p:cNvPr id="42" name="Text 40">
            <a:extLst>
              <a:ext uri="{FF2B5EF4-FFF2-40B4-BE49-F238E27FC236}">
                <a16:creationId xmlns:a16="http://schemas.microsoft.com/office/drawing/2014/main" id="{A25886F0-632B-96D0-21AF-4ACE04AADA79}"/>
              </a:ext>
            </a:extLst>
          </p:cNvPr>
          <p:cNvSpPr/>
          <p:nvPr/>
        </p:nvSpPr>
        <p:spPr>
          <a:xfrm>
            <a:off x="4956048" y="2084832"/>
            <a:ext cx="1627632" cy="347472"/>
          </a:xfrm>
          <a:prstGeom prst="rect">
            <a:avLst/>
          </a:prstGeom>
          <a:noFill/>
          <a:ln/>
        </p:spPr>
        <p:txBody>
          <a:bodyPr wrap="square" lIns="0" tIns="0" rIns="0" bIns="0" rtlCol="0" anchor="ctr"/>
          <a:lstStyle/>
          <a:p>
            <a:pPr marL="0" indent="0">
              <a:buNone/>
            </a:pPr>
            <a:r>
              <a:rPr lang="en-US" sz="1000" b="1" dirty="0">
                <a:solidFill>
                  <a:srgbClr val="F4A261"/>
                </a:solidFill>
                <a:latin typeface="Calibri" pitchFamily="34" charset="0"/>
                <a:ea typeface="Calibri" pitchFamily="34" charset="-122"/>
                <a:cs typeface="Calibri" pitchFamily="34" charset="-120"/>
              </a:rPr>
              <a:t>price_band</a:t>
            </a:r>
            <a:endParaRPr lang="en-US" sz="1000" dirty="0"/>
          </a:p>
        </p:txBody>
      </p:sp>
      <p:sp>
        <p:nvSpPr>
          <p:cNvPr id="43" name="Text 41">
            <a:extLst>
              <a:ext uri="{FF2B5EF4-FFF2-40B4-BE49-F238E27FC236}">
                <a16:creationId xmlns:a16="http://schemas.microsoft.com/office/drawing/2014/main" id="{66586895-3F48-884D-74AA-026A88E5A5EA}"/>
              </a:ext>
            </a:extLst>
          </p:cNvPr>
          <p:cNvSpPr/>
          <p:nvPr/>
        </p:nvSpPr>
        <p:spPr>
          <a:xfrm>
            <a:off x="6656832" y="2084832"/>
            <a:ext cx="1783080" cy="34747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Low / Medium / High via pd.qcut(q=3)</a:t>
            </a:r>
            <a:endParaRPr lang="en-US" sz="1000" dirty="0"/>
          </a:p>
        </p:txBody>
      </p:sp>
      <p:sp>
        <p:nvSpPr>
          <p:cNvPr id="44" name="Shape 42">
            <a:extLst>
              <a:ext uri="{FF2B5EF4-FFF2-40B4-BE49-F238E27FC236}">
                <a16:creationId xmlns:a16="http://schemas.microsoft.com/office/drawing/2014/main" id="{5BF037A9-ADF6-C42E-8239-0F68378E3A4D}"/>
              </a:ext>
            </a:extLst>
          </p:cNvPr>
          <p:cNvSpPr/>
          <p:nvPr/>
        </p:nvSpPr>
        <p:spPr>
          <a:xfrm>
            <a:off x="4864608" y="2478024"/>
            <a:ext cx="3840480" cy="347472"/>
          </a:xfrm>
          <a:prstGeom prst="rect">
            <a:avLst/>
          </a:prstGeom>
          <a:solidFill>
            <a:srgbClr val="FFFFFF"/>
          </a:solidFill>
          <a:ln w="12700">
            <a:solidFill>
              <a:srgbClr val="E2E8F0"/>
            </a:solidFill>
            <a:prstDash val="solid"/>
          </a:ln>
        </p:spPr>
      </p:sp>
      <p:sp>
        <p:nvSpPr>
          <p:cNvPr id="45" name="Text 43">
            <a:extLst>
              <a:ext uri="{FF2B5EF4-FFF2-40B4-BE49-F238E27FC236}">
                <a16:creationId xmlns:a16="http://schemas.microsoft.com/office/drawing/2014/main" id="{746AFF02-6DB3-8046-7665-0A292CD59FF1}"/>
              </a:ext>
            </a:extLst>
          </p:cNvPr>
          <p:cNvSpPr/>
          <p:nvPr/>
        </p:nvSpPr>
        <p:spPr>
          <a:xfrm>
            <a:off x="4956048" y="2478024"/>
            <a:ext cx="1627632" cy="347472"/>
          </a:xfrm>
          <a:prstGeom prst="rect">
            <a:avLst/>
          </a:prstGeom>
          <a:noFill/>
          <a:ln/>
        </p:spPr>
        <p:txBody>
          <a:bodyPr wrap="square" lIns="0" tIns="0" rIns="0" bIns="0" rtlCol="0" anchor="ctr"/>
          <a:lstStyle/>
          <a:p>
            <a:pPr marL="0" indent="0">
              <a:buNone/>
            </a:pPr>
            <a:r>
              <a:rPr lang="en-US" sz="1000" b="1" dirty="0">
                <a:solidFill>
                  <a:srgbClr val="F4A261"/>
                </a:solidFill>
                <a:latin typeface="Calibri" pitchFamily="34" charset="0"/>
                <a:ea typeface="Calibri" pitchFamily="34" charset="-122"/>
                <a:cs typeface="Calibri" pitchFamily="34" charset="-120"/>
              </a:rPr>
              <a:t>margin_usd</a:t>
            </a:r>
            <a:endParaRPr lang="en-US" sz="1000" dirty="0"/>
          </a:p>
        </p:txBody>
      </p:sp>
      <p:sp>
        <p:nvSpPr>
          <p:cNvPr id="46" name="Text 44">
            <a:extLst>
              <a:ext uri="{FF2B5EF4-FFF2-40B4-BE49-F238E27FC236}">
                <a16:creationId xmlns:a16="http://schemas.microsoft.com/office/drawing/2014/main" id="{6F2BC686-FE36-B4CE-E390-DD6CABBFEAC1}"/>
              </a:ext>
            </a:extLst>
          </p:cNvPr>
          <p:cNvSpPr/>
          <p:nvPr/>
        </p:nvSpPr>
        <p:spPr>
          <a:xfrm>
            <a:off x="6656832" y="2478024"/>
            <a:ext cx="1783080" cy="34747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price_usd − cost_usd</a:t>
            </a:r>
            <a:endParaRPr lang="en-US" sz="1000" dirty="0"/>
          </a:p>
        </p:txBody>
      </p:sp>
      <p:sp>
        <p:nvSpPr>
          <p:cNvPr id="47" name="Shape 45">
            <a:extLst>
              <a:ext uri="{FF2B5EF4-FFF2-40B4-BE49-F238E27FC236}">
                <a16:creationId xmlns:a16="http://schemas.microsoft.com/office/drawing/2014/main" id="{CE9D6CEA-BEAF-DC62-15B5-9D065B12DF10}"/>
              </a:ext>
            </a:extLst>
          </p:cNvPr>
          <p:cNvSpPr/>
          <p:nvPr/>
        </p:nvSpPr>
        <p:spPr>
          <a:xfrm>
            <a:off x="4663440" y="3108960"/>
            <a:ext cx="4206240" cy="1828800"/>
          </a:xfrm>
          <a:prstGeom prst="rect">
            <a:avLst/>
          </a:prstGeom>
          <a:solidFill>
            <a:srgbClr val="FFFFFF"/>
          </a:solidFill>
          <a:ln w="12700">
            <a:solidFill>
              <a:srgbClr val="E2E8F0"/>
            </a:solidFill>
            <a:prstDash val="solid"/>
          </a:ln>
          <a:effectLst>
            <a:outerShdw blurRad="127000" dist="25400" dir="8100000" algn="bl" rotWithShape="0">
              <a:srgbClr val="000000">
                <a:alpha val="8000"/>
              </a:srgbClr>
            </a:outerShdw>
          </a:effectLst>
        </p:spPr>
      </p:sp>
      <p:sp>
        <p:nvSpPr>
          <p:cNvPr id="48" name="Shape 46">
            <a:extLst>
              <a:ext uri="{FF2B5EF4-FFF2-40B4-BE49-F238E27FC236}">
                <a16:creationId xmlns:a16="http://schemas.microsoft.com/office/drawing/2014/main" id="{C4477373-0FB9-B1B1-ABE1-D77144B157ED}"/>
              </a:ext>
            </a:extLst>
          </p:cNvPr>
          <p:cNvSpPr/>
          <p:nvPr/>
        </p:nvSpPr>
        <p:spPr>
          <a:xfrm>
            <a:off x="4663440" y="3108960"/>
            <a:ext cx="4206240" cy="64008"/>
          </a:xfrm>
          <a:prstGeom prst="rect">
            <a:avLst/>
          </a:prstGeom>
          <a:solidFill>
            <a:srgbClr val="6C63FF"/>
          </a:solidFill>
          <a:ln w="12700">
            <a:solidFill>
              <a:srgbClr val="6C63FF"/>
            </a:solidFill>
            <a:prstDash val="solid"/>
          </a:ln>
        </p:spPr>
      </p:sp>
      <p:sp>
        <p:nvSpPr>
          <p:cNvPr id="49" name="Text 47">
            <a:extLst>
              <a:ext uri="{FF2B5EF4-FFF2-40B4-BE49-F238E27FC236}">
                <a16:creationId xmlns:a16="http://schemas.microsoft.com/office/drawing/2014/main" id="{2597B6AD-BAE4-44EF-6018-B637C945AB2B}"/>
              </a:ext>
            </a:extLst>
          </p:cNvPr>
          <p:cNvSpPr/>
          <p:nvPr/>
        </p:nvSpPr>
        <p:spPr>
          <a:xfrm>
            <a:off x="4864608" y="3182112"/>
            <a:ext cx="3840480" cy="329184"/>
          </a:xfrm>
          <a:prstGeom prst="rect">
            <a:avLst/>
          </a:prstGeom>
          <a:noFill/>
          <a:ln/>
        </p:spPr>
        <p:txBody>
          <a:bodyPr wrap="square" lIns="0" tIns="0" rIns="0" bIns="0" rtlCol="0" anchor="ctr"/>
          <a:lstStyle/>
          <a:p>
            <a:pPr marL="0" indent="0">
              <a:buNone/>
            </a:pPr>
            <a:r>
              <a:rPr lang="en-US" sz="1300" b="1" dirty="0">
                <a:solidFill>
                  <a:srgbClr val="6C63FF"/>
                </a:solidFill>
                <a:latin typeface="Calibri" pitchFamily="34" charset="0"/>
                <a:ea typeface="Calibri" pitchFamily="34" charset="-122"/>
                <a:cs typeface="Calibri" pitchFamily="34" charset="-120"/>
              </a:rPr>
              <a:t>Interaction Matrix</a:t>
            </a:r>
            <a:endParaRPr lang="en-US" sz="1300" dirty="0"/>
          </a:p>
        </p:txBody>
      </p:sp>
      <p:sp>
        <p:nvSpPr>
          <p:cNvPr id="50" name="Text 48">
            <a:extLst>
              <a:ext uri="{FF2B5EF4-FFF2-40B4-BE49-F238E27FC236}">
                <a16:creationId xmlns:a16="http://schemas.microsoft.com/office/drawing/2014/main" id="{0F6D7465-E2C1-0945-629B-03DB5908D0C0}"/>
              </a:ext>
            </a:extLst>
          </p:cNvPr>
          <p:cNvSpPr/>
          <p:nvPr/>
        </p:nvSpPr>
        <p:spPr>
          <a:xfrm>
            <a:off x="4864608" y="3584448"/>
            <a:ext cx="3840480" cy="123444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orders + order_items merged</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groupby customer_id × product_id</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purchase_count (58,969 rows)</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Sparse user-item matrix → LightFM input</a:t>
            </a:r>
            <a:endParaRPr lang="en-US" sz="1050" dirty="0"/>
          </a:p>
        </p:txBody>
      </p:sp>
    </p:spTree>
    <p:extLst>
      <p:ext uri="{BB962C8B-B14F-4D97-AF65-F5344CB8AC3E}">
        <p14:creationId xmlns:p14="http://schemas.microsoft.com/office/powerpoint/2010/main" val="3279282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6792A2A-421D-BF0D-9176-FA48DA87A471}"/>
              </a:ext>
            </a:extLst>
          </p:cNvPr>
          <p:cNvSpPr/>
          <p:nvPr/>
        </p:nvSpPr>
        <p:spPr>
          <a:xfrm>
            <a:off x="0" y="0"/>
            <a:ext cx="9144000" cy="658368"/>
          </a:xfrm>
          <a:prstGeom prst="rect">
            <a:avLst/>
          </a:prstGeom>
          <a:solidFill>
            <a:srgbClr val="0D1B3E"/>
          </a:solidFill>
          <a:ln w="12700">
            <a:solidFill>
              <a:srgbClr val="0D1B3E"/>
            </a:solidFill>
            <a:prstDash val="solid"/>
          </a:ln>
        </p:spPr>
      </p:sp>
      <p:sp>
        <p:nvSpPr>
          <p:cNvPr id="3" name="Text 1">
            <a:extLst>
              <a:ext uri="{FF2B5EF4-FFF2-40B4-BE49-F238E27FC236}">
                <a16:creationId xmlns:a16="http://schemas.microsoft.com/office/drawing/2014/main" id="{77B854DE-2967-BFC8-0C6E-034E8397D00C}"/>
              </a:ext>
            </a:extLst>
          </p:cNvPr>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Recommendation Engine</a:t>
            </a:r>
            <a:endParaRPr lang="en-US" sz="2200" dirty="0"/>
          </a:p>
        </p:txBody>
      </p:sp>
      <p:sp>
        <p:nvSpPr>
          <p:cNvPr id="4" name="Text 2">
            <a:extLst>
              <a:ext uri="{FF2B5EF4-FFF2-40B4-BE49-F238E27FC236}">
                <a16:creationId xmlns:a16="http://schemas.microsoft.com/office/drawing/2014/main" id="{F7C8E3DF-E0D3-A3FB-76C9-0DCA6B67008D}"/>
              </a:ext>
            </a:extLst>
          </p:cNvPr>
          <p:cNvSpPr/>
          <p:nvPr/>
        </p:nvSpPr>
        <p:spPr>
          <a:xfrm>
            <a:off x="5303520" y="0"/>
            <a:ext cx="3566160" cy="658368"/>
          </a:xfrm>
          <a:prstGeom prst="rect">
            <a:avLst/>
          </a:prstGeom>
          <a:noFill/>
          <a:ln/>
        </p:spPr>
        <p:txBody>
          <a:bodyPr wrap="square" lIns="0" tIns="0" rIns="0" bIns="0" rtlCol="0" anchor="ctr"/>
          <a:lstStyle/>
          <a:p>
            <a:pPr marL="0" indent="0" algn="r">
              <a:buNone/>
            </a:pPr>
            <a:r>
              <a:rPr lang="en-US" sz="1100" i="1" dirty="0">
                <a:solidFill>
                  <a:srgbClr val="A0AEC0"/>
                </a:solidFill>
                <a:latin typeface="Calibri" pitchFamily="34" charset="0"/>
                <a:ea typeface="Calibri" pitchFamily="34" charset="-122"/>
                <a:cs typeface="Calibri" pitchFamily="34" charset="-120"/>
              </a:rPr>
              <a:t>recommendation_engine.ipynb</a:t>
            </a:r>
            <a:endParaRPr lang="en-US" sz="1100" dirty="0"/>
          </a:p>
        </p:txBody>
      </p:sp>
      <p:sp>
        <p:nvSpPr>
          <p:cNvPr id="5" name="Shape 3">
            <a:extLst>
              <a:ext uri="{FF2B5EF4-FFF2-40B4-BE49-F238E27FC236}">
                <a16:creationId xmlns:a16="http://schemas.microsoft.com/office/drawing/2014/main" id="{C4ECEEB5-7E26-078E-EE67-DB1124C32705}"/>
              </a:ext>
            </a:extLst>
          </p:cNvPr>
          <p:cNvSpPr/>
          <p:nvPr/>
        </p:nvSpPr>
        <p:spPr>
          <a:xfrm>
            <a:off x="274320" y="804672"/>
            <a:ext cx="2743200" cy="3838766"/>
          </a:xfrm>
          <a:prstGeom prst="rect">
            <a:avLst/>
          </a:prstGeom>
          <a:solidFill>
            <a:srgbClr val="FFFFFF"/>
          </a:solidFill>
          <a:ln w="12700">
            <a:solidFill>
              <a:srgbClr val="E2E8F0"/>
            </a:solidFill>
            <a:prstDash val="solid"/>
          </a:ln>
          <a:effectLst>
            <a:outerShdw blurRad="127000" dist="25400" dir="8100000" algn="bl" rotWithShape="0">
              <a:srgbClr val="000000">
                <a:alpha val="8000"/>
              </a:srgbClr>
            </a:outerShdw>
          </a:effectLst>
        </p:spPr>
      </p:sp>
      <p:sp>
        <p:nvSpPr>
          <p:cNvPr id="6" name="Shape 4">
            <a:extLst>
              <a:ext uri="{FF2B5EF4-FFF2-40B4-BE49-F238E27FC236}">
                <a16:creationId xmlns:a16="http://schemas.microsoft.com/office/drawing/2014/main" id="{F5307195-1A2D-E3C4-6532-6A7991F7F1B5}"/>
              </a:ext>
            </a:extLst>
          </p:cNvPr>
          <p:cNvSpPr/>
          <p:nvPr/>
        </p:nvSpPr>
        <p:spPr>
          <a:xfrm>
            <a:off x="274320" y="804672"/>
            <a:ext cx="2743200" cy="64008"/>
          </a:xfrm>
          <a:prstGeom prst="rect">
            <a:avLst/>
          </a:prstGeom>
          <a:solidFill>
            <a:srgbClr val="028090"/>
          </a:solidFill>
          <a:ln w="12700">
            <a:solidFill>
              <a:srgbClr val="028090"/>
            </a:solidFill>
            <a:prstDash val="solid"/>
          </a:ln>
        </p:spPr>
      </p:sp>
      <p:sp>
        <p:nvSpPr>
          <p:cNvPr id="7" name="Text 5">
            <a:extLst>
              <a:ext uri="{FF2B5EF4-FFF2-40B4-BE49-F238E27FC236}">
                <a16:creationId xmlns:a16="http://schemas.microsoft.com/office/drawing/2014/main" id="{AD9E0F26-187F-097A-E99C-87B0D263C34F}"/>
              </a:ext>
            </a:extLst>
          </p:cNvPr>
          <p:cNvSpPr/>
          <p:nvPr/>
        </p:nvSpPr>
        <p:spPr>
          <a:xfrm>
            <a:off x="438912" y="877824"/>
            <a:ext cx="2487168" cy="329184"/>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Collaborative Filtering</a:t>
            </a:r>
            <a:endParaRPr lang="en-US" sz="1200" dirty="0"/>
          </a:p>
        </p:txBody>
      </p:sp>
      <p:sp>
        <p:nvSpPr>
          <p:cNvPr id="8" name="Text 6">
            <a:extLst>
              <a:ext uri="{FF2B5EF4-FFF2-40B4-BE49-F238E27FC236}">
                <a16:creationId xmlns:a16="http://schemas.microsoft.com/office/drawing/2014/main" id="{300B29B4-2AAD-0049-6787-2925C8ABDC37}"/>
              </a:ext>
            </a:extLst>
          </p:cNvPr>
          <p:cNvSpPr/>
          <p:nvPr/>
        </p:nvSpPr>
        <p:spPr>
          <a:xfrm>
            <a:off x="438912" y="1216152"/>
            <a:ext cx="2487168"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LightFM  ·  WARP loss</a:t>
            </a:r>
            <a:endParaRPr lang="en-US" sz="1000" dirty="0"/>
          </a:p>
        </p:txBody>
      </p:sp>
      <p:sp>
        <p:nvSpPr>
          <p:cNvPr id="9" name="Shape 7">
            <a:extLst>
              <a:ext uri="{FF2B5EF4-FFF2-40B4-BE49-F238E27FC236}">
                <a16:creationId xmlns:a16="http://schemas.microsoft.com/office/drawing/2014/main" id="{B2DE2089-25FE-E2C0-565C-8A3E41B7A6CD}"/>
              </a:ext>
            </a:extLst>
          </p:cNvPr>
          <p:cNvSpPr/>
          <p:nvPr/>
        </p:nvSpPr>
        <p:spPr>
          <a:xfrm>
            <a:off x="438912" y="1490472"/>
            <a:ext cx="2414016" cy="0"/>
          </a:xfrm>
          <a:prstGeom prst="line">
            <a:avLst/>
          </a:prstGeom>
          <a:noFill/>
          <a:ln w="6350">
            <a:solidFill>
              <a:srgbClr val="E2E8F0"/>
            </a:solidFill>
            <a:prstDash val="solid"/>
          </a:ln>
        </p:spPr>
      </p:sp>
      <p:sp>
        <p:nvSpPr>
          <p:cNvPr id="10" name="Text 8">
            <a:extLst>
              <a:ext uri="{FF2B5EF4-FFF2-40B4-BE49-F238E27FC236}">
                <a16:creationId xmlns:a16="http://schemas.microsoft.com/office/drawing/2014/main" id="{09FEAB8D-BC78-852F-7F3D-C5BBF894D3E6}"/>
              </a:ext>
            </a:extLst>
          </p:cNvPr>
          <p:cNvSpPr/>
          <p:nvPr/>
        </p:nvSpPr>
        <p:spPr>
          <a:xfrm>
            <a:off x="438912" y="1581912"/>
            <a:ext cx="2487168" cy="58521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interaction_matrix → scipy coo_matrix</a:t>
            </a:r>
            <a:endParaRPr lang="en-US" sz="1000" dirty="0"/>
          </a:p>
        </p:txBody>
      </p:sp>
      <p:sp>
        <p:nvSpPr>
          <p:cNvPr id="11" name="Text 9">
            <a:extLst>
              <a:ext uri="{FF2B5EF4-FFF2-40B4-BE49-F238E27FC236}">
                <a16:creationId xmlns:a16="http://schemas.microsoft.com/office/drawing/2014/main" id="{5917344F-B74C-837D-B5D9-44C68FD7143B}"/>
              </a:ext>
            </a:extLst>
          </p:cNvPr>
          <p:cNvSpPr/>
          <p:nvPr/>
        </p:nvSpPr>
        <p:spPr>
          <a:xfrm>
            <a:off x="438912" y="2221992"/>
            <a:ext cx="2487168" cy="58521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customer_id &amp; product_id → index maps</a:t>
            </a:r>
            <a:endParaRPr lang="en-US" sz="1000" dirty="0"/>
          </a:p>
        </p:txBody>
      </p:sp>
      <p:sp>
        <p:nvSpPr>
          <p:cNvPr id="12" name="Text 10">
            <a:extLst>
              <a:ext uri="{FF2B5EF4-FFF2-40B4-BE49-F238E27FC236}">
                <a16:creationId xmlns:a16="http://schemas.microsoft.com/office/drawing/2014/main" id="{FC530DCC-3B7A-9918-0822-0549DEF3D636}"/>
              </a:ext>
            </a:extLst>
          </p:cNvPr>
          <p:cNvSpPr/>
          <p:nvPr/>
        </p:nvSpPr>
        <p:spPr>
          <a:xfrm>
            <a:off x="438912" y="2862072"/>
            <a:ext cx="2487168" cy="58521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LightFM(no_components=30,</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learning_rate=0.05, loss='warp')</a:t>
            </a:r>
            <a:endParaRPr lang="en-US" sz="1000" dirty="0"/>
          </a:p>
        </p:txBody>
      </p:sp>
      <p:sp>
        <p:nvSpPr>
          <p:cNvPr id="13" name="Text 11">
            <a:extLst>
              <a:ext uri="{FF2B5EF4-FFF2-40B4-BE49-F238E27FC236}">
                <a16:creationId xmlns:a16="http://schemas.microsoft.com/office/drawing/2014/main" id="{09A5100A-72BE-21F9-A117-85F1228207E6}"/>
              </a:ext>
            </a:extLst>
          </p:cNvPr>
          <p:cNvSpPr/>
          <p:nvPr/>
        </p:nvSpPr>
        <p:spPr>
          <a:xfrm>
            <a:off x="438912" y="3502152"/>
            <a:ext cx="2487168" cy="58521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model.fit(epochs=20, num_threads=4)</a:t>
            </a:r>
            <a:endParaRPr lang="en-US" sz="1000" dirty="0"/>
          </a:p>
        </p:txBody>
      </p:sp>
      <p:sp>
        <p:nvSpPr>
          <p:cNvPr id="14" name="Text 12">
            <a:extLst>
              <a:ext uri="{FF2B5EF4-FFF2-40B4-BE49-F238E27FC236}">
                <a16:creationId xmlns:a16="http://schemas.microsoft.com/office/drawing/2014/main" id="{78A674AF-CCC2-D6A5-3C48-53B8615738BE}"/>
              </a:ext>
            </a:extLst>
          </p:cNvPr>
          <p:cNvSpPr/>
          <p:nvPr/>
        </p:nvSpPr>
        <p:spPr>
          <a:xfrm>
            <a:off x="438912" y="4142232"/>
            <a:ext cx="2487168" cy="58521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model.predict() scores all items</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per user → top-5 selected</a:t>
            </a:r>
            <a:endParaRPr lang="en-US" sz="1000" dirty="0"/>
          </a:p>
        </p:txBody>
      </p:sp>
      <p:sp>
        <p:nvSpPr>
          <p:cNvPr id="15" name="Shape 13">
            <a:extLst>
              <a:ext uri="{FF2B5EF4-FFF2-40B4-BE49-F238E27FC236}">
                <a16:creationId xmlns:a16="http://schemas.microsoft.com/office/drawing/2014/main" id="{98EAF7D1-AF74-5696-9A8B-A861BDEA253C}"/>
              </a:ext>
            </a:extLst>
          </p:cNvPr>
          <p:cNvSpPr/>
          <p:nvPr/>
        </p:nvSpPr>
        <p:spPr>
          <a:xfrm>
            <a:off x="3227832" y="804672"/>
            <a:ext cx="2743200" cy="3838766"/>
          </a:xfrm>
          <a:prstGeom prst="rect">
            <a:avLst/>
          </a:prstGeom>
          <a:solidFill>
            <a:srgbClr val="FFFFFF"/>
          </a:solidFill>
          <a:ln w="12700">
            <a:solidFill>
              <a:srgbClr val="E2E8F0"/>
            </a:solidFill>
            <a:prstDash val="solid"/>
          </a:ln>
          <a:effectLst>
            <a:outerShdw blurRad="127000" dist="25400" dir="8100000" algn="bl" rotWithShape="0">
              <a:srgbClr val="000000">
                <a:alpha val="8000"/>
              </a:srgbClr>
            </a:outerShdw>
          </a:effectLst>
        </p:spPr>
      </p:sp>
      <p:sp>
        <p:nvSpPr>
          <p:cNvPr id="16" name="Shape 14">
            <a:extLst>
              <a:ext uri="{FF2B5EF4-FFF2-40B4-BE49-F238E27FC236}">
                <a16:creationId xmlns:a16="http://schemas.microsoft.com/office/drawing/2014/main" id="{414C3EAB-F4C8-5442-89D0-D33A363E761D}"/>
              </a:ext>
            </a:extLst>
          </p:cNvPr>
          <p:cNvSpPr/>
          <p:nvPr/>
        </p:nvSpPr>
        <p:spPr>
          <a:xfrm>
            <a:off x="3227832" y="804672"/>
            <a:ext cx="2743200" cy="64008"/>
          </a:xfrm>
          <a:prstGeom prst="rect">
            <a:avLst/>
          </a:prstGeom>
          <a:solidFill>
            <a:srgbClr val="F4A261"/>
          </a:solidFill>
          <a:ln w="12700">
            <a:solidFill>
              <a:srgbClr val="F4A261"/>
            </a:solidFill>
            <a:prstDash val="solid"/>
          </a:ln>
        </p:spPr>
      </p:sp>
      <p:sp>
        <p:nvSpPr>
          <p:cNvPr id="17" name="Text 15">
            <a:extLst>
              <a:ext uri="{FF2B5EF4-FFF2-40B4-BE49-F238E27FC236}">
                <a16:creationId xmlns:a16="http://schemas.microsoft.com/office/drawing/2014/main" id="{10BF19E8-970F-759D-67C9-42EB5E3AF2D1}"/>
              </a:ext>
            </a:extLst>
          </p:cNvPr>
          <p:cNvSpPr/>
          <p:nvPr/>
        </p:nvSpPr>
        <p:spPr>
          <a:xfrm>
            <a:off x="3392424" y="877824"/>
            <a:ext cx="2487168" cy="329184"/>
          </a:xfrm>
          <a:prstGeom prst="rect">
            <a:avLst/>
          </a:prstGeom>
          <a:noFill/>
          <a:ln/>
        </p:spPr>
        <p:txBody>
          <a:bodyPr wrap="square" lIns="0" tIns="0" rIns="0" bIns="0" rtlCol="0" anchor="ctr"/>
          <a:lstStyle/>
          <a:p>
            <a:pPr marL="0" indent="0">
              <a:buNone/>
            </a:pPr>
            <a:r>
              <a:rPr lang="en-US" sz="1200" b="1" dirty="0">
                <a:solidFill>
                  <a:srgbClr val="F4A261"/>
                </a:solidFill>
                <a:latin typeface="Calibri" pitchFamily="34" charset="0"/>
                <a:ea typeface="Calibri" pitchFamily="34" charset="-122"/>
                <a:cs typeface="Calibri" pitchFamily="34" charset="-120"/>
              </a:rPr>
              <a:t>Content-Based Filtering</a:t>
            </a:r>
            <a:endParaRPr lang="en-US" sz="1200" dirty="0"/>
          </a:p>
        </p:txBody>
      </p:sp>
      <p:sp>
        <p:nvSpPr>
          <p:cNvPr id="18" name="Text 16">
            <a:extLst>
              <a:ext uri="{FF2B5EF4-FFF2-40B4-BE49-F238E27FC236}">
                <a16:creationId xmlns:a16="http://schemas.microsoft.com/office/drawing/2014/main" id="{F8D30BCA-B71A-DBBA-2EC9-4D355D0AC61E}"/>
              </a:ext>
            </a:extLst>
          </p:cNvPr>
          <p:cNvSpPr/>
          <p:nvPr/>
        </p:nvSpPr>
        <p:spPr>
          <a:xfrm>
            <a:off x="3392424" y="1216152"/>
            <a:ext cx="2487168"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Cosine Similarity</a:t>
            </a:r>
            <a:endParaRPr lang="en-US" sz="1000" dirty="0"/>
          </a:p>
        </p:txBody>
      </p:sp>
      <p:sp>
        <p:nvSpPr>
          <p:cNvPr id="19" name="Shape 17">
            <a:extLst>
              <a:ext uri="{FF2B5EF4-FFF2-40B4-BE49-F238E27FC236}">
                <a16:creationId xmlns:a16="http://schemas.microsoft.com/office/drawing/2014/main" id="{8842BB67-033F-86B3-6F3C-D44915CAC19B}"/>
              </a:ext>
            </a:extLst>
          </p:cNvPr>
          <p:cNvSpPr/>
          <p:nvPr/>
        </p:nvSpPr>
        <p:spPr>
          <a:xfrm>
            <a:off x="3392424" y="1490472"/>
            <a:ext cx="2414016" cy="0"/>
          </a:xfrm>
          <a:prstGeom prst="line">
            <a:avLst/>
          </a:prstGeom>
          <a:noFill/>
          <a:ln w="6350">
            <a:solidFill>
              <a:srgbClr val="E2E8F0"/>
            </a:solidFill>
            <a:prstDash val="solid"/>
          </a:ln>
        </p:spPr>
      </p:sp>
      <p:sp>
        <p:nvSpPr>
          <p:cNvPr id="20" name="Text 18">
            <a:extLst>
              <a:ext uri="{FF2B5EF4-FFF2-40B4-BE49-F238E27FC236}">
                <a16:creationId xmlns:a16="http://schemas.microsoft.com/office/drawing/2014/main" id="{91E2047C-F880-BB28-1715-F45729745E61}"/>
              </a:ext>
            </a:extLst>
          </p:cNvPr>
          <p:cNvSpPr/>
          <p:nvPr/>
        </p:nvSpPr>
        <p:spPr>
          <a:xfrm>
            <a:off x="3392424" y="1581912"/>
            <a:ext cx="2487168" cy="58521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Product feature matrix from</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category + price_band (one-hot)</a:t>
            </a:r>
            <a:endParaRPr lang="en-US" sz="1000" dirty="0"/>
          </a:p>
        </p:txBody>
      </p:sp>
      <p:sp>
        <p:nvSpPr>
          <p:cNvPr id="21" name="Text 19">
            <a:extLst>
              <a:ext uri="{FF2B5EF4-FFF2-40B4-BE49-F238E27FC236}">
                <a16:creationId xmlns:a16="http://schemas.microsoft.com/office/drawing/2014/main" id="{787CD496-BE6A-6B73-5DAB-1E63232E53EC}"/>
              </a:ext>
            </a:extLst>
          </p:cNvPr>
          <p:cNvSpPr/>
          <p:nvPr/>
        </p:nvSpPr>
        <p:spPr>
          <a:xfrm>
            <a:off x="3392424" y="2221992"/>
            <a:ext cx="2487168" cy="58521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cosine_similarity() across</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1,197 products</a:t>
            </a:r>
            <a:endParaRPr lang="en-US" sz="1000" dirty="0"/>
          </a:p>
        </p:txBody>
      </p:sp>
      <p:sp>
        <p:nvSpPr>
          <p:cNvPr id="22" name="Text 20">
            <a:extLst>
              <a:ext uri="{FF2B5EF4-FFF2-40B4-BE49-F238E27FC236}">
                <a16:creationId xmlns:a16="http://schemas.microsoft.com/office/drawing/2014/main" id="{8C7D21E8-EBBD-19C4-EC18-76E16F627D95}"/>
              </a:ext>
            </a:extLst>
          </p:cNvPr>
          <p:cNvSpPr/>
          <p:nvPr/>
        </p:nvSpPr>
        <p:spPr>
          <a:xfrm>
            <a:off x="3392424" y="2862072"/>
            <a:ext cx="2487168" cy="58521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similar_products(pid, top_n=5)</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returns nearest neighbours</a:t>
            </a:r>
            <a:endParaRPr lang="en-US" sz="1000" dirty="0"/>
          </a:p>
        </p:txBody>
      </p:sp>
      <p:sp>
        <p:nvSpPr>
          <p:cNvPr id="23" name="Text 21">
            <a:extLst>
              <a:ext uri="{FF2B5EF4-FFF2-40B4-BE49-F238E27FC236}">
                <a16:creationId xmlns:a16="http://schemas.microsoft.com/office/drawing/2014/main" id="{B6C42D33-BCDC-1E75-6807-2BE20429B1C6}"/>
              </a:ext>
            </a:extLst>
          </p:cNvPr>
          <p:cNvSpPr/>
          <p:nvPr/>
        </p:nvSpPr>
        <p:spPr>
          <a:xfrm>
            <a:off x="3392424" y="3502152"/>
            <a:ext cx="2487168" cy="58521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Fallback for item-level</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similarity queries</a:t>
            </a:r>
            <a:endParaRPr lang="en-US" sz="1000" dirty="0"/>
          </a:p>
        </p:txBody>
      </p:sp>
      <p:sp>
        <p:nvSpPr>
          <p:cNvPr id="24" name="Shape 22">
            <a:extLst>
              <a:ext uri="{FF2B5EF4-FFF2-40B4-BE49-F238E27FC236}">
                <a16:creationId xmlns:a16="http://schemas.microsoft.com/office/drawing/2014/main" id="{D7371EF1-BAFC-48AA-8963-BB9D1E919C85}"/>
              </a:ext>
            </a:extLst>
          </p:cNvPr>
          <p:cNvSpPr/>
          <p:nvPr/>
        </p:nvSpPr>
        <p:spPr>
          <a:xfrm>
            <a:off x="6181344" y="804672"/>
            <a:ext cx="2743200" cy="3838766"/>
          </a:xfrm>
          <a:prstGeom prst="rect">
            <a:avLst/>
          </a:prstGeom>
          <a:solidFill>
            <a:srgbClr val="FFFFFF"/>
          </a:solidFill>
          <a:ln w="12700">
            <a:solidFill>
              <a:srgbClr val="E2E8F0"/>
            </a:solidFill>
            <a:prstDash val="solid"/>
          </a:ln>
          <a:effectLst>
            <a:outerShdw blurRad="127000" dist="25400" dir="8100000" algn="bl" rotWithShape="0">
              <a:srgbClr val="000000">
                <a:alpha val="8000"/>
              </a:srgbClr>
            </a:outerShdw>
          </a:effectLst>
        </p:spPr>
      </p:sp>
      <p:sp>
        <p:nvSpPr>
          <p:cNvPr id="25" name="Shape 23">
            <a:extLst>
              <a:ext uri="{FF2B5EF4-FFF2-40B4-BE49-F238E27FC236}">
                <a16:creationId xmlns:a16="http://schemas.microsoft.com/office/drawing/2014/main" id="{590F4267-4631-1795-0F98-8572DFC5D941}"/>
              </a:ext>
            </a:extLst>
          </p:cNvPr>
          <p:cNvSpPr/>
          <p:nvPr/>
        </p:nvSpPr>
        <p:spPr>
          <a:xfrm>
            <a:off x="6181344" y="804672"/>
            <a:ext cx="2743200" cy="64008"/>
          </a:xfrm>
          <a:prstGeom prst="rect">
            <a:avLst/>
          </a:prstGeom>
          <a:solidFill>
            <a:srgbClr val="6C63FF"/>
          </a:solidFill>
          <a:ln w="12700">
            <a:solidFill>
              <a:srgbClr val="6C63FF"/>
            </a:solidFill>
            <a:prstDash val="solid"/>
          </a:ln>
        </p:spPr>
      </p:sp>
      <p:sp>
        <p:nvSpPr>
          <p:cNvPr id="26" name="Text 24">
            <a:extLst>
              <a:ext uri="{FF2B5EF4-FFF2-40B4-BE49-F238E27FC236}">
                <a16:creationId xmlns:a16="http://schemas.microsoft.com/office/drawing/2014/main" id="{646A8031-4AC8-FCA1-F5E7-ABDA4E37B62F}"/>
              </a:ext>
            </a:extLst>
          </p:cNvPr>
          <p:cNvSpPr/>
          <p:nvPr/>
        </p:nvSpPr>
        <p:spPr>
          <a:xfrm>
            <a:off x="6345936" y="877824"/>
            <a:ext cx="2487168" cy="329184"/>
          </a:xfrm>
          <a:prstGeom prst="rect">
            <a:avLst/>
          </a:prstGeom>
          <a:noFill/>
          <a:ln/>
        </p:spPr>
        <p:txBody>
          <a:bodyPr wrap="square" lIns="0" tIns="0" rIns="0" bIns="0" rtlCol="0" anchor="ctr"/>
          <a:lstStyle/>
          <a:p>
            <a:pPr marL="0" indent="0">
              <a:buNone/>
            </a:pPr>
            <a:r>
              <a:rPr lang="en-US" sz="1200" b="1" dirty="0">
                <a:solidFill>
                  <a:srgbClr val="6C63FF"/>
                </a:solidFill>
                <a:latin typeface="Calibri" pitchFamily="34" charset="0"/>
                <a:ea typeface="Calibri" pitchFamily="34" charset="-122"/>
                <a:cs typeface="Calibri" pitchFamily="34" charset="-120"/>
              </a:rPr>
              <a:t>Hybrid Strategy</a:t>
            </a:r>
            <a:endParaRPr lang="en-US" sz="1200" dirty="0"/>
          </a:p>
        </p:txBody>
      </p:sp>
      <p:sp>
        <p:nvSpPr>
          <p:cNvPr id="27" name="Text 25">
            <a:extLst>
              <a:ext uri="{FF2B5EF4-FFF2-40B4-BE49-F238E27FC236}">
                <a16:creationId xmlns:a16="http://schemas.microsoft.com/office/drawing/2014/main" id="{05A9DB27-DCF6-A1B0-1978-0581EEE05D3F}"/>
              </a:ext>
            </a:extLst>
          </p:cNvPr>
          <p:cNvSpPr/>
          <p:nvPr/>
        </p:nvSpPr>
        <p:spPr>
          <a:xfrm>
            <a:off x="6345936" y="1216152"/>
            <a:ext cx="2487168"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Cold-start handled</a:t>
            </a:r>
            <a:endParaRPr lang="en-US" sz="1000" dirty="0"/>
          </a:p>
        </p:txBody>
      </p:sp>
      <p:sp>
        <p:nvSpPr>
          <p:cNvPr id="28" name="Shape 26">
            <a:extLst>
              <a:ext uri="{FF2B5EF4-FFF2-40B4-BE49-F238E27FC236}">
                <a16:creationId xmlns:a16="http://schemas.microsoft.com/office/drawing/2014/main" id="{BE36A388-E143-2AFA-89CD-0AE15939E023}"/>
              </a:ext>
            </a:extLst>
          </p:cNvPr>
          <p:cNvSpPr/>
          <p:nvPr/>
        </p:nvSpPr>
        <p:spPr>
          <a:xfrm>
            <a:off x="6345936" y="1490472"/>
            <a:ext cx="2414016" cy="0"/>
          </a:xfrm>
          <a:prstGeom prst="line">
            <a:avLst/>
          </a:prstGeom>
          <a:noFill/>
          <a:ln w="6350">
            <a:solidFill>
              <a:srgbClr val="E2E8F0"/>
            </a:solidFill>
            <a:prstDash val="solid"/>
          </a:ln>
        </p:spPr>
      </p:sp>
      <p:sp>
        <p:nvSpPr>
          <p:cNvPr id="29" name="Text 27">
            <a:extLst>
              <a:ext uri="{FF2B5EF4-FFF2-40B4-BE49-F238E27FC236}">
                <a16:creationId xmlns:a16="http://schemas.microsoft.com/office/drawing/2014/main" id="{38774639-036C-180D-9AE4-BCBC461DEA7E}"/>
              </a:ext>
            </a:extLst>
          </p:cNvPr>
          <p:cNvSpPr/>
          <p:nvPr/>
        </p:nvSpPr>
        <p:spPr>
          <a:xfrm>
            <a:off x="6345936" y="1581912"/>
            <a:ext cx="2487168" cy="58521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hybrid_recommendation(user_id)</a:t>
            </a:r>
            <a:endParaRPr lang="en-US" sz="1000" dirty="0"/>
          </a:p>
        </p:txBody>
      </p:sp>
      <p:sp>
        <p:nvSpPr>
          <p:cNvPr id="30" name="Text 28">
            <a:extLst>
              <a:ext uri="{FF2B5EF4-FFF2-40B4-BE49-F238E27FC236}">
                <a16:creationId xmlns:a16="http://schemas.microsoft.com/office/drawing/2014/main" id="{B36E2DD2-B793-FD04-B733-0D20A6E39040}"/>
              </a:ext>
            </a:extLst>
          </p:cNvPr>
          <p:cNvSpPr/>
          <p:nvPr/>
        </p:nvSpPr>
        <p:spPr>
          <a:xfrm>
            <a:off x="6345936" y="2221992"/>
            <a:ext cx="2487168" cy="58521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Known user → LightFM scores</a:t>
            </a:r>
            <a:endParaRPr lang="en-US" sz="1000" dirty="0"/>
          </a:p>
        </p:txBody>
      </p:sp>
      <p:sp>
        <p:nvSpPr>
          <p:cNvPr id="31" name="Text 29">
            <a:extLst>
              <a:ext uri="{FF2B5EF4-FFF2-40B4-BE49-F238E27FC236}">
                <a16:creationId xmlns:a16="http://schemas.microsoft.com/office/drawing/2014/main" id="{449EC40F-2D9E-5662-6EF7-C8AC0C0DF2D1}"/>
              </a:ext>
            </a:extLst>
          </p:cNvPr>
          <p:cNvSpPr/>
          <p:nvPr/>
        </p:nvSpPr>
        <p:spPr>
          <a:xfrm>
            <a:off x="6345936" y="2862072"/>
            <a:ext cx="2487168" cy="58521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New user → top-10 popular</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products by purchase_count</a:t>
            </a:r>
            <a:endParaRPr lang="en-US" sz="1000" dirty="0"/>
          </a:p>
        </p:txBody>
      </p:sp>
      <p:sp>
        <p:nvSpPr>
          <p:cNvPr id="32" name="Text 30">
            <a:extLst>
              <a:ext uri="{FF2B5EF4-FFF2-40B4-BE49-F238E27FC236}">
                <a16:creationId xmlns:a16="http://schemas.microsoft.com/office/drawing/2014/main" id="{85D7F168-28F6-5CE5-8F78-2A14A1CB93AC}"/>
              </a:ext>
            </a:extLst>
          </p:cNvPr>
          <p:cNvSpPr/>
          <p:nvPr/>
        </p:nvSpPr>
        <p:spPr>
          <a:xfrm>
            <a:off x="6345936" y="3502152"/>
            <a:ext cx="2487168" cy="58521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Output: recommended_products.csv</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81,340 customer-product pairs</a:t>
            </a:r>
            <a:endParaRPr lang="en-US" sz="1000" dirty="0"/>
          </a:p>
        </p:txBody>
      </p:sp>
      <p:sp>
        <p:nvSpPr>
          <p:cNvPr id="33" name="Shape 31">
            <a:extLst>
              <a:ext uri="{FF2B5EF4-FFF2-40B4-BE49-F238E27FC236}">
                <a16:creationId xmlns:a16="http://schemas.microsoft.com/office/drawing/2014/main" id="{D7035FA6-D734-59AA-C3E3-580CAD9B3071}"/>
              </a:ext>
            </a:extLst>
          </p:cNvPr>
          <p:cNvSpPr/>
          <p:nvPr/>
        </p:nvSpPr>
        <p:spPr>
          <a:xfrm>
            <a:off x="258888" y="4665154"/>
            <a:ext cx="8665655" cy="421196"/>
          </a:xfrm>
          <a:prstGeom prst="rect">
            <a:avLst/>
          </a:prstGeom>
          <a:solidFill>
            <a:srgbClr val="FFFFFF"/>
          </a:solidFill>
          <a:ln w="12700">
            <a:solidFill>
              <a:srgbClr val="E2E8F0"/>
            </a:solidFill>
            <a:prstDash val="solid"/>
          </a:ln>
          <a:effectLst>
            <a:outerShdw blurRad="127000" dist="25400" dir="8100000" algn="bl" rotWithShape="0">
              <a:srgbClr val="000000">
                <a:alpha val="8000"/>
              </a:srgbClr>
            </a:outerShdw>
          </a:effectLst>
        </p:spPr>
      </p:sp>
      <p:sp>
        <p:nvSpPr>
          <p:cNvPr id="34" name="Text 32">
            <a:extLst>
              <a:ext uri="{FF2B5EF4-FFF2-40B4-BE49-F238E27FC236}">
                <a16:creationId xmlns:a16="http://schemas.microsoft.com/office/drawing/2014/main" id="{B43C7503-DADF-9745-21B7-D69C560DA360}"/>
              </a:ext>
            </a:extLst>
          </p:cNvPr>
          <p:cNvSpPr/>
          <p:nvPr/>
        </p:nvSpPr>
        <p:spPr>
          <a:xfrm>
            <a:off x="441769" y="4691443"/>
            <a:ext cx="8229600" cy="320040"/>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Output → recommended_products.csv  ·  81,340 rows  ·  customer_id + recommended_product  ·  Enriched with product_name &amp; category in dashboard</a:t>
            </a:r>
            <a:endParaRPr lang="en-US" sz="1050" dirty="0"/>
          </a:p>
        </p:txBody>
      </p:sp>
    </p:spTree>
    <p:extLst>
      <p:ext uri="{BB962C8B-B14F-4D97-AF65-F5344CB8AC3E}">
        <p14:creationId xmlns:p14="http://schemas.microsoft.com/office/powerpoint/2010/main" val="3061303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3E"/>
          </a:solidFill>
          <a:ln w="12700">
            <a:solidFill>
              <a:srgbClr val="0D1B3E"/>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Business KPIs</a:t>
            </a:r>
            <a:endParaRPr lang="en-US" sz="2200" dirty="0"/>
          </a:p>
        </p:txBody>
      </p:sp>
      <p:sp>
        <p:nvSpPr>
          <p:cNvPr id="4" name="Shape 2"/>
          <p:cNvSpPr/>
          <p:nvPr/>
        </p:nvSpPr>
        <p:spPr>
          <a:xfrm>
            <a:off x="320040" y="1005840"/>
            <a:ext cx="2606040" cy="169164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5" name="Shape 3"/>
          <p:cNvSpPr/>
          <p:nvPr/>
        </p:nvSpPr>
        <p:spPr>
          <a:xfrm>
            <a:off x="320040" y="1005840"/>
            <a:ext cx="2606040" cy="64008"/>
          </a:xfrm>
          <a:prstGeom prst="rect">
            <a:avLst/>
          </a:prstGeom>
          <a:solidFill>
            <a:srgbClr val="028090"/>
          </a:solidFill>
          <a:ln w="12700">
            <a:solidFill>
              <a:srgbClr val="028090"/>
            </a:solidFill>
            <a:prstDash val="solid"/>
          </a:ln>
        </p:spPr>
      </p:sp>
      <p:sp>
        <p:nvSpPr>
          <p:cNvPr id="6" name="Text 4"/>
          <p:cNvSpPr/>
          <p:nvPr/>
        </p:nvSpPr>
        <p:spPr>
          <a:xfrm>
            <a:off x="457200" y="1188720"/>
            <a:ext cx="2331720" cy="32004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Total Revenue</a:t>
            </a:r>
            <a:endParaRPr lang="en-US" sz="1200" dirty="0"/>
          </a:p>
        </p:txBody>
      </p:sp>
      <p:sp>
        <p:nvSpPr>
          <p:cNvPr id="7" name="Text 5"/>
          <p:cNvSpPr/>
          <p:nvPr/>
        </p:nvSpPr>
        <p:spPr>
          <a:xfrm>
            <a:off x="457200" y="1554480"/>
            <a:ext cx="2331720" cy="685800"/>
          </a:xfrm>
          <a:prstGeom prst="rect">
            <a:avLst/>
          </a:prstGeom>
          <a:noFill/>
          <a:ln/>
        </p:spPr>
        <p:txBody>
          <a:bodyPr wrap="square" rtlCol="0" anchor="ctr"/>
          <a:lstStyle/>
          <a:p>
            <a:pPr marL="0" indent="0">
              <a:buNone/>
            </a:pPr>
            <a:r>
              <a:rPr lang="en-US" sz="3000" b="1" dirty="0">
                <a:solidFill>
                  <a:srgbClr val="0D1B3E"/>
                </a:solidFill>
                <a:latin typeface="Calibri" pitchFamily="34" charset="0"/>
                <a:ea typeface="Calibri" pitchFamily="34" charset="-122"/>
                <a:cs typeface="Calibri" pitchFamily="34" charset="-120"/>
              </a:rPr>
              <a:t>$4,493,217</a:t>
            </a:r>
            <a:endParaRPr lang="en-US" sz="3000" dirty="0"/>
          </a:p>
        </p:txBody>
      </p:sp>
      <p:sp>
        <p:nvSpPr>
          <p:cNvPr id="8" name="Text 6"/>
          <p:cNvSpPr/>
          <p:nvPr/>
        </p:nvSpPr>
        <p:spPr>
          <a:xfrm>
            <a:off x="457200" y="2267712"/>
            <a:ext cx="2331720" cy="27432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Post-discount</a:t>
            </a:r>
            <a:endParaRPr lang="en-US" sz="1100" dirty="0"/>
          </a:p>
        </p:txBody>
      </p:sp>
      <p:sp>
        <p:nvSpPr>
          <p:cNvPr id="9" name="Shape 7"/>
          <p:cNvSpPr/>
          <p:nvPr/>
        </p:nvSpPr>
        <p:spPr>
          <a:xfrm>
            <a:off x="3154680" y="1005840"/>
            <a:ext cx="2606040" cy="169164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10" name="Shape 8"/>
          <p:cNvSpPr/>
          <p:nvPr/>
        </p:nvSpPr>
        <p:spPr>
          <a:xfrm>
            <a:off x="3154680" y="1005840"/>
            <a:ext cx="2606040" cy="64008"/>
          </a:xfrm>
          <a:prstGeom prst="rect">
            <a:avLst/>
          </a:prstGeom>
          <a:solidFill>
            <a:srgbClr val="028090"/>
          </a:solidFill>
          <a:ln w="12700">
            <a:solidFill>
              <a:srgbClr val="028090"/>
            </a:solidFill>
            <a:prstDash val="solid"/>
          </a:ln>
        </p:spPr>
      </p:sp>
      <p:sp>
        <p:nvSpPr>
          <p:cNvPr id="11" name="Text 9"/>
          <p:cNvSpPr/>
          <p:nvPr/>
        </p:nvSpPr>
        <p:spPr>
          <a:xfrm>
            <a:off x="3291840" y="1188720"/>
            <a:ext cx="2331720" cy="32004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Total Orders</a:t>
            </a:r>
            <a:endParaRPr lang="en-US" sz="1200" dirty="0"/>
          </a:p>
        </p:txBody>
      </p:sp>
      <p:sp>
        <p:nvSpPr>
          <p:cNvPr id="12" name="Text 10"/>
          <p:cNvSpPr/>
          <p:nvPr/>
        </p:nvSpPr>
        <p:spPr>
          <a:xfrm>
            <a:off x="3291840" y="1554480"/>
            <a:ext cx="2331720" cy="685800"/>
          </a:xfrm>
          <a:prstGeom prst="rect">
            <a:avLst/>
          </a:prstGeom>
          <a:noFill/>
          <a:ln/>
        </p:spPr>
        <p:txBody>
          <a:bodyPr wrap="square" rtlCol="0" anchor="ctr"/>
          <a:lstStyle/>
          <a:p>
            <a:pPr marL="0" indent="0">
              <a:buNone/>
            </a:pPr>
            <a:r>
              <a:rPr lang="en-US" sz="3000" b="1" dirty="0">
                <a:solidFill>
                  <a:srgbClr val="0D1B3E"/>
                </a:solidFill>
                <a:latin typeface="Calibri" pitchFamily="34" charset="0"/>
                <a:ea typeface="Calibri" pitchFamily="34" charset="-122"/>
                <a:cs typeface="Calibri" pitchFamily="34" charset="-120"/>
              </a:rPr>
              <a:t>33,580</a:t>
            </a:r>
            <a:endParaRPr lang="en-US" sz="3000" dirty="0"/>
          </a:p>
        </p:txBody>
      </p:sp>
      <p:sp>
        <p:nvSpPr>
          <p:cNvPr id="13" name="Text 11"/>
          <p:cNvSpPr/>
          <p:nvPr/>
        </p:nvSpPr>
        <p:spPr>
          <a:xfrm>
            <a:off x="3291840" y="2267712"/>
            <a:ext cx="2331720" cy="27432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Unique orders</a:t>
            </a:r>
            <a:endParaRPr lang="en-US" sz="1100" dirty="0"/>
          </a:p>
        </p:txBody>
      </p:sp>
      <p:sp>
        <p:nvSpPr>
          <p:cNvPr id="14" name="Shape 12"/>
          <p:cNvSpPr/>
          <p:nvPr/>
        </p:nvSpPr>
        <p:spPr>
          <a:xfrm>
            <a:off x="5989320" y="1005840"/>
            <a:ext cx="2606040" cy="169164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15" name="Shape 13"/>
          <p:cNvSpPr/>
          <p:nvPr/>
        </p:nvSpPr>
        <p:spPr>
          <a:xfrm>
            <a:off x="5989320" y="1005840"/>
            <a:ext cx="2606040" cy="64008"/>
          </a:xfrm>
          <a:prstGeom prst="rect">
            <a:avLst/>
          </a:prstGeom>
          <a:solidFill>
            <a:srgbClr val="028090"/>
          </a:solidFill>
          <a:ln w="12700">
            <a:solidFill>
              <a:srgbClr val="028090"/>
            </a:solidFill>
            <a:prstDash val="solid"/>
          </a:ln>
        </p:spPr>
      </p:sp>
      <p:sp>
        <p:nvSpPr>
          <p:cNvPr id="16" name="Text 14"/>
          <p:cNvSpPr/>
          <p:nvPr/>
        </p:nvSpPr>
        <p:spPr>
          <a:xfrm>
            <a:off x="6126480" y="1188720"/>
            <a:ext cx="2331720" cy="32004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Total Customers</a:t>
            </a:r>
            <a:endParaRPr lang="en-US" sz="1200" dirty="0"/>
          </a:p>
        </p:txBody>
      </p:sp>
      <p:sp>
        <p:nvSpPr>
          <p:cNvPr id="17" name="Text 15"/>
          <p:cNvSpPr/>
          <p:nvPr/>
        </p:nvSpPr>
        <p:spPr>
          <a:xfrm>
            <a:off x="6126480" y="1554480"/>
            <a:ext cx="2331720" cy="685800"/>
          </a:xfrm>
          <a:prstGeom prst="rect">
            <a:avLst/>
          </a:prstGeom>
          <a:noFill/>
          <a:ln/>
        </p:spPr>
        <p:txBody>
          <a:bodyPr wrap="square" rtlCol="0" anchor="ctr"/>
          <a:lstStyle/>
          <a:p>
            <a:pPr marL="0" indent="0">
              <a:buNone/>
            </a:pPr>
            <a:r>
              <a:rPr lang="en-US" sz="3000" b="1" dirty="0">
                <a:solidFill>
                  <a:srgbClr val="0D1B3E"/>
                </a:solidFill>
                <a:latin typeface="Calibri" pitchFamily="34" charset="0"/>
                <a:ea typeface="Calibri" pitchFamily="34" charset="-122"/>
                <a:cs typeface="Calibri" pitchFamily="34" charset="-120"/>
              </a:rPr>
              <a:t>20,000</a:t>
            </a:r>
            <a:endParaRPr lang="en-US" sz="3000" dirty="0"/>
          </a:p>
        </p:txBody>
      </p:sp>
      <p:sp>
        <p:nvSpPr>
          <p:cNvPr id="18" name="Text 16"/>
          <p:cNvSpPr/>
          <p:nvPr/>
        </p:nvSpPr>
        <p:spPr>
          <a:xfrm>
            <a:off x="6126480" y="2267712"/>
            <a:ext cx="2331720" cy="27432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Registered</a:t>
            </a:r>
            <a:endParaRPr lang="en-US" sz="1100" dirty="0"/>
          </a:p>
        </p:txBody>
      </p:sp>
      <p:sp>
        <p:nvSpPr>
          <p:cNvPr id="19" name="Shape 17"/>
          <p:cNvSpPr/>
          <p:nvPr/>
        </p:nvSpPr>
        <p:spPr>
          <a:xfrm>
            <a:off x="320040" y="2971800"/>
            <a:ext cx="2606040" cy="169164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20" name="Shape 18"/>
          <p:cNvSpPr/>
          <p:nvPr/>
        </p:nvSpPr>
        <p:spPr>
          <a:xfrm>
            <a:off x="320040" y="2971800"/>
            <a:ext cx="2606040" cy="64008"/>
          </a:xfrm>
          <a:prstGeom prst="rect">
            <a:avLst/>
          </a:prstGeom>
          <a:solidFill>
            <a:srgbClr val="028090"/>
          </a:solidFill>
          <a:ln w="12700">
            <a:solidFill>
              <a:srgbClr val="028090"/>
            </a:solidFill>
            <a:prstDash val="solid"/>
          </a:ln>
        </p:spPr>
      </p:sp>
      <p:sp>
        <p:nvSpPr>
          <p:cNvPr id="21" name="Text 19"/>
          <p:cNvSpPr/>
          <p:nvPr/>
        </p:nvSpPr>
        <p:spPr>
          <a:xfrm>
            <a:off x="457200" y="3154680"/>
            <a:ext cx="2331720" cy="32004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Active Customers</a:t>
            </a:r>
            <a:endParaRPr lang="en-US" sz="1200" dirty="0"/>
          </a:p>
        </p:txBody>
      </p:sp>
      <p:sp>
        <p:nvSpPr>
          <p:cNvPr id="22" name="Text 20"/>
          <p:cNvSpPr/>
          <p:nvPr/>
        </p:nvSpPr>
        <p:spPr>
          <a:xfrm>
            <a:off x="457200" y="3520440"/>
            <a:ext cx="2331720" cy="685800"/>
          </a:xfrm>
          <a:prstGeom prst="rect">
            <a:avLst/>
          </a:prstGeom>
          <a:noFill/>
          <a:ln/>
        </p:spPr>
        <p:txBody>
          <a:bodyPr wrap="square" rtlCol="0" anchor="ctr"/>
          <a:lstStyle/>
          <a:p>
            <a:pPr marL="0" indent="0">
              <a:buNone/>
            </a:pPr>
            <a:r>
              <a:rPr lang="en-US" sz="3000" b="1" dirty="0">
                <a:solidFill>
                  <a:srgbClr val="0D1B3E"/>
                </a:solidFill>
                <a:latin typeface="Calibri" pitchFamily="34" charset="0"/>
                <a:ea typeface="Calibri" pitchFamily="34" charset="-122"/>
                <a:cs typeface="Calibri" pitchFamily="34" charset="-120"/>
              </a:rPr>
              <a:t>16,268</a:t>
            </a:r>
            <a:endParaRPr lang="en-US" sz="3000" dirty="0"/>
          </a:p>
        </p:txBody>
      </p:sp>
      <p:sp>
        <p:nvSpPr>
          <p:cNvPr id="23" name="Text 21"/>
          <p:cNvSpPr/>
          <p:nvPr/>
        </p:nvSpPr>
        <p:spPr>
          <a:xfrm>
            <a:off x="457200" y="4233672"/>
            <a:ext cx="2331720" cy="27432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Placed ≥1 order</a:t>
            </a:r>
            <a:endParaRPr lang="en-US" sz="1100" dirty="0"/>
          </a:p>
        </p:txBody>
      </p:sp>
      <p:sp>
        <p:nvSpPr>
          <p:cNvPr id="24" name="Shape 22"/>
          <p:cNvSpPr/>
          <p:nvPr/>
        </p:nvSpPr>
        <p:spPr>
          <a:xfrm>
            <a:off x="3154680" y="2971800"/>
            <a:ext cx="2606040" cy="169164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25" name="Shape 23"/>
          <p:cNvSpPr/>
          <p:nvPr/>
        </p:nvSpPr>
        <p:spPr>
          <a:xfrm>
            <a:off x="3154680" y="2971800"/>
            <a:ext cx="2606040" cy="64008"/>
          </a:xfrm>
          <a:prstGeom prst="rect">
            <a:avLst/>
          </a:prstGeom>
          <a:solidFill>
            <a:srgbClr val="028090"/>
          </a:solidFill>
          <a:ln w="12700">
            <a:solidFill>
              <a:srgbClr val="028090"/>
            </a:solidFill>
            <a:prstDash val="solid"/>
          </a:ln>
        </p:spPr>
      </p:sp>
      <p:sp>
        <p:nvSpPr>
          <p:cNvPr id="26" name="Text 24"/>
          <p:cNvSpPr/>
          <p:nvPr/>
        </p:nvSpPr>
        <p:spPr>
          <a:xfrm>
            <a:off x="3291840" y="3154680"/>
            <a:ext cx="2331720" cy="32004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Avg Order Value</a:t>
            </a:r>
            <a:endParaRPr lang="en-US" sz="1200" dirty="0"/>
          </a:p>
        </p:txBody>
      </p:sp>
      <p:sp>
        <p:nvSpPr>
          <p:cNvPr id="27" name="Text 25"/>
          <p:cNvSpPr/>
          <p:nvPr/>
        </p:nvSpPr>
        <p:spPr>
          <a:xfrm>
            <a:off x="3291840" y="3520440"/>
            <a:ext cx="2331720" cy="685800"/>
          </a:xfrm>
          <a:prstGeom prst="rect">
            <a:avLst/>
          </a:prstGeom>
          <a:noFill/>
          <a:ln/>
        </p:spPr>
        <p:txBody>
          <a:bodyPr wrap="square" rtlCol="0" anchor="ctr"/>
          <a:lstStyle/>
          <a:p>
            <a:pPr marL="0" indent="0">
              <a:buNone/>
            </a:pPr>
            <a:r>
              <a:rPr lang="en-US" sz="3000" b="1" dirty="0">
                <a:solidFill>
                  <a:srgbClr val="0D1B3E"/>
                </a:solidFill>
                <a:latin typeface="Calibri" pitchFamily="34" charset="0"/>
                <a:ea typeface="Calibri" pitchFamily="34" charset="-122"/>
                <a:cs typeface="Calibri" pitchFamily="34" charset="-120"/>
              </a:rPr>
              <a:t>$133.81</a:t>
            </a:r>
            <a:endParaRPr lang="en-US" sz="3000" dirty="0"/>
          </a:p>
        </p:txBody>
      </p:sp>
      <p:sp>
        <p:nvSpPr>
          <p:cNvPr id="28" name="Text 26"/>
          <p:cNvSpPr/>
          <p:nvPr/>
        </p:nvSpPr>
        <p:spPr>
          <a:xfrm>
            <a:off x="3291840" y="4233672"/>
            <a:ext cx="2331720" cy="27432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Per order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3E"/>
          </a:solidFill>
          <a:ln w="12700">
            <a:solidFill>
              <a:srgbClr val="0D1B3E"/>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Revenue &amp; Customers by Segment</a:t>
            </a:r>
            <a:endParaRPr lang="en-US" sz="2200" dirty="0"/>
          </a:p>
        </p:txBody>
      </p:sp>
      <p:sp>
        <p:nvSpPr>
          <p:cNvPr id="6" name="Shape 2"/>
          <p:cNvSpPr/>
          <p:nvPr/>
        </p:nvSpPr>
        <p:spPr>
          <a:xfrm>
            <a:off x="365760" y="4526280"/>
            <a:ext cx="2011680" cy="475488"/>
          </a:xfrm>
          <a:prstGeom prst="rect">
            <a:avLst/>
          </a:prstGeom>
          <a:solidFill>
            <a:srgbClr val="028090"/>
          </a:solidFill>
          <a:ln w="12700">
            <a:solidFill>
              <a:srgbClr val="028090"/>
            </a:solidFill>
            <a:prstDash val="solid"/>
          </a:ln>
        </p:spPr>
      </p:sp>
      <p:sp>
        <p:nvSpPr>
          <p:cNvPr id="7" name="Text 3"/>
          <p:cNvSpPr/>
          <p:nvPr/>
        </p:nvSpPr>
        <p:spPr>
          <a:xfrm>
            <a:off x="365760" y="4526280"/>
            <a:ext cx="2011680" cy="475488"/>
          </a:xfrm>
          <a:prstGeom prst="rect">
            <a:avLst/>
          </a:prstGeom>
          <a:solidFill>
            <a:srgbClr val="0070C0"/>
          </a:solid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High-value loyal </a:t>
            </a:r>
            <a:r>
              <a:rPr lang="en-US" sz="950" dirty="0">
                <a:solidFill>
                  <a:srgbClr val="FFFFFF"/>
                </a:solidFill>
                <a:latin typeface="Calibri" pitchFamily="34" charset="0"/>
                <a:ea typeface="Calibri" pitchFamily="34" charset="-122"/>
                <a:cs typeface="Calibri" pitchFamily="34" charset="-120"/>
              </a:rPr>
              <a:t>5,397 customers · $1,975,934</a:t>
            </a:r>
            <a:endParaRPr lang="en-US" sz="950" dirty="0"/>
          </a:p>
        </p:txBody>
      </p:sp>
      <p:sp>
        <p:nvSpPr>
          <p:cNvPr id="8" name="Shape 4"/>
          <p:cNvSpPr/>
          <p:nvPr/>
        </p:nvSpPr>
        <p:spPr>
          <a:xfrm>
            <a:off x="2560320" y="4526280"/>
            <a:ext cx="2011680" cy="475488"/>
          </a:xfrm>
          <a:prstGeom prst="rect">
            <a:avLst/>
          </a:prstGeom>
          <a:solidFill>
            <a:srgbClr val="F4A261"/>
          </a:solidFill>
          <a:ln w="12700">
            <a:solidFill>
              <a:srgbClr val="F4A261"/>
            </a:solidFill>
            <a:prstDash val="solid"/>
          </a:ln>
        </p:spPr>
      </p:sp>
      <p:sp>
        <p:nvSpPr>
          <p:cNvPr id="9" name="Text 5"/>
          <p:cNvSpPr/>
          <p:nvPr/>
        </p:nvSpPr>
        <p:spPr>
          <a:xfrm>
            <a:off x="2560320" y="4526280"/>
            <a:ext cx="2011680" cy="475488"/>
          </a:xfrm>
          <a:prstGeom prst="rect">
            <a:avLst/>
          </a:prstGeom>
          <a:solidFill>
            <a:srgbClr val="F7070D"/>
          </a:solid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At-risk </a:t>
            </a:r>
            <a:r>
              <a:rPr lang="en-US" sz="950" dirty="0">
                <a:solidFill>
                  <a:srgbClr val="FFFFFF"/>
                </a:solidFill>
                <a:latin typeface="Calibri" pitchFamily="34" charset="0"/>
                <a:ea typeface="Calibri" pitchFamily="34" charset="-122"/>
                <a:cs typeface="Calibri" pitchFamily="34" charset="-120"/>
              </a:rPr>
              <a:t>6,155 customers · $1,304,494</a:t>
            </a:r>
            <a:endParaRPr lang="en-US" sz="950" dirty="0"/>
          </a:p>
        </p:txBody>
      </p:sp>
      <p:sp>
        <p:nvSpPr>
          <p:cNvPr id="10" name="Shape 6"/>
          <p:cNvSpPr/>
          <p:nvPr/>
        </p:nvSpPr>
        <p:spPr>
          <a:xfrm>
            <a:off x="4754880" y="4526280"/>
            <a:ext cx="2011680" cy="475488"/>
          </a:xfrm>
          <a:prstGeom prst="rect">
            <a:avLst/>
          </a:prstGeom>
          <a:solidFill>
            <a:srgbClr val="02C39A"/>
          </a:solidFill>
          <a:ln w="12700">
            <a:solidFill>
              <a:srgbClr val="02C39A"/>
            </a:solidFill>
            <a:prstDash val="solid"/>
          </a:ln>
        </p:spPr>
      </p:sp>
      <p:sp>
        <p:nvSpPr>
          <p:cNvPr id="11" name="Text 7"/>
          <p:cNvSpPr/>
          <p:nvPr/>
        </p:nvSpPr>
        <p:spPr>
          <a:xfrm>
            <a:off x="4754880" y="4526280"/>
            <a:ext cx="2011680" cy="47548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New buyers </a:t>
            </a:r>
            <a:r>
              <a:rPr lang="en-US" sz="950" dirty="0">
                <a:solidFill>
                  <a:srgbClr val="FFFFFF"/>
                </a:solidFill>
                <a:latin typeface="Calibri" pitchFamily="34" charset="0"/>
                <a:ea typeface="Calibri" pitchFamily="34" charset="-122"/>
                <a:cs typeface="Calibri" pitchFamily="34" charset="-120"/>
              </a:rPr>
              <a:t>2,950 customers · $725,305</a:t>
            </a:r>
            <a:endParaRPr lang="en-US" sz="950" dirty="0"/>
          </a:p>
        </p:txBody>
      </p:sp>
      <p:sp>
        <p:nvSpPr>
          <p:cNvPr id="12" name="Shape 8"/>
          <p:cNvSpPr/>
          <p:nvPr/>
        </p:nvSpPr>
        <p:spPr>
          <a:xfrm>
            <a:off x="6949440" y="4526280"/>
            <a:ext cx="2011680" cy="475488"/>
          </a:xfrm>
          <a:prstGeom prst="rect">
            <a:avLst/>
          </a:prstGeom>
          <a:solidFill>
            <a:srgbClr val="E76F51"/>
          </a:solidFill>
          <a:ln w="12700">
            <a:solidFill>
              <a:srgbClr val="E76F51"/>
            </a:solidFill>
            <a:prstDash val="solid"/>
          </a:ln>
        </p:spPr>
      </p:sp>
      <p:sp>
        <p:nvSpPr>
          <p:cNvPr id="13" name="Text 9"/>
          <p:cNvSpPr/>
          <p:nvPr/>
        </p:nvSpPr>
        <p:spPr>
          <a:xfrm>
            <a:off x="6949440" y="4526280"/>
            <a:ext cx="2011680" cy="475488"/>
          </a:xfrm>
          <a:prstGeom prst="rect">
            <a:avLst/>
          </a:prstGeom>
          <a:solidFill>
            <a:schemeClr val="accent2">
              <a:lumMod val="60000"/>
              <a:lumOff val="40000"/>
            </a:schemeClr>
          </a:solid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Price-sensitive </a:t>
            </a:r>
            <a:r>
              <a:rPr lang="en-US" sz="950" dirty="0">
                <a:solidFill>
                  <a:srgbClr val="FFFFFF"/>
                </a:solidFill>
                <a:latin typeface="Calibri" pitchFamily="34" charset="0"/>
                <a:ea typeface="Calibri" pitchFamily="34" charset="-122"/>
                <a:cs typeface="Calibri" pitchFamily="34" charset="-120"/>
              </a:rPr>
              <a:t>1,766 customers · $487,484</a:t>
            </a:r>
            <a:endParaRPr lang="en-US" sz="950" dirty="0"/>
          </a:p>
        </p:txBody>
      </p:sp>
      <p:pic>
        <p:nvPicPr>
          <p:cNvPr id="29" name="Picture 28">
            <a:extLst>
              <a:ext uri="{FF2B5EF4-FFF2-40B4-BE49-F238E27FC236}">
                <a16:creationId xmlns:a16="http://schemas.microsoft.com/office/drawing/2014/main" id="{DB1BD6E8-E34F-AEBB-1276-B49A576EC5BF}"/>
              </a:ext>
            </a:extLst>
          </p:cNvPr>
          <p:cNvPicPr>
            <a:picLocks noChangeAspect="1"/>
          </p:cNvPicPr>
          <p:nvPr/>
        </p:nvPicPr>
        <p:blipFill>
          <a:blip r:embed="rId3"/>
          <a:stretch>
            <a:fillRect/>
          </a:stretch>
        </p:blipFill>
        <p:spPr>
          <a:xfrm>
            <a:off x="182880" y="775440"/>
            <a:ext cx="4982699" cy="3592620"/>
          </a:xfrm>
          <a:prstGeom prst="rect">
            <a:avLst/>
          </a:prstGeom>
        </p:spPr>
      </p:pic>
      <p:pic>
        <p:nvPicPr>
          <p:cNvPr id="31" name="Picture 30">
            <a:extLst>
              <a:ext uri="{FF2B5EF4-FFF2-40B4-BE49-F238E27FC236}">
                <a16:creationId xmlns:a16="http://schemas.microsoft.com/office/drawing/2014/main" id="{926B5605-4B72-E3A5-DF6D-E87C86F4CFA2}"/>
              </a:ext>
            </a:extLst>
          </p:cNvPr>
          <p:cNvPicPr>
            <a:picLocks noChangeAspect="1"/>
          </p:cNvPicPr>
          <p:nvPr/>
        </p:nvPicPr>
        <p:blipFill>
          <a:blip r:embed="rId4"/>
          <a:stretch>
            <a:fillRect/>
          </a:stretch>
        </p:blipFill>
        <p:spPr>
          <a:xfrm>
            <a:off x="5300661" y="775440"/>
            <a:ext cx="3564733" cy="35926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3E"/>
          </a:solidFill>
          <a:ln w="12700">
            <a:solidFill>
              <a:srgbClr val="0D1B3E"/>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Top Products &amp; Revenue by Category</a:t>
            </a:r>
            <a:endParaRPr lang="en-US" sz="2200" dirty="0"/>
          </a:p>
        </p:txBody>
      </p:sp>
      <p:pic>
        <p:nvPicPr>
          <p:cNvPr id="7" name="Picture 6">
            <a:extLst>
              <a:ext uri="{FF2B5EF4-FFF2-40B4-BE49-F238E27FC236}">
                <a16:creationId xmlns:a16="http://schemas.microsoft.com/office/drawing/2014/main" id="{FDB0DEEF-4A5B-D5E4-6422-B14804EECDEA}"/>
              </a:ext>
            </a:extLst>
          </p:cNvPr>
          <p:cNvPicPr>
            <a:picLocks noChangeAspect="1"/>
          </p:cNvPicPr>
          <p:nvPr/>
        </p:nvPicPr>
        <p:blipFill>
          <a:blip r:embed="rId3"/>
          <a:stretch>
            <a:fillRect/>
          </a:stretch>
        </p:blipFill>
        <p:spPr>
          <a:xfrm>
            <a:off x="78747" y="851535"/>
            <a:ext cx="5114594" cy="4023360"/>
          </a:xfrm>
          <a:prstGeom prst="rect">
            <a:avLst/>
          </a:prstGeom>
        </p:spPr>
      </p:pic>
      <p:pic>
        <p:nvPicPr>
          <p:cNvPr id="9" name="Picture 8">
            <a:extLst>
              <a:ext uri="{FF2B5EF4-FFF2-40B4-BE49-F238E27FC236}">
                <a16:creationId xmlns:a16="http://schemas.microsoft.com/office/drawing/2014/main" id="{662715A7-F700-5E3E-F9E7-349052CD8E9F}"/>
              </a:ext>
            </a:extLst>
          </p:cNvPr>
          <p:cNvPicPr>
            <a:picLocks noChangeAspect="1"/>
          </p:cNvPicPr>
          <p:nvPr/>
        </p:nvPicPr>
        <p:blipFill>
          <a:blip r:embed="rId4"/>
          <a:stretch>
            <a:fillRect/>
          </a:stretch>
        </p:blipFill>
        <p:spPr>
          <a:xfrm>
            <a:off x="5279232" y="851535"/>
            <a:ext cx="3786022" cy="395713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3E"/>
          </a:solidFill>
          <a:ln w="12700">
            <a:solidFill>
              <a:srgbClr val="0D1B3E"/>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Revenue by Country</a:t>
            </a:r>
            <a:endParaRPr lang="en-US" sz="2200" dirty="0"/>
          </a:p>
        </p:txBody>
      </p:sp>
      <p:sp>
        <p:nvSpPr>
          <p:cNvPr id="5" name="Shape 2"/>
          <p:cNvSpPr/>
          <p:nvPr/>
        </p:nvSpPr>
        <p:spPr>
          <a:xfrm>
            <a:off x="365760" y="4743450"/>
            <a:ext cx="8412480" cy="400050"/>
          </a:xfrm>
          <a:prstGeom prst="rect">
            <a:avLst/>
          </a:prstGeom>
          <a:solidFill>
            <a:srgbClr val="028090">
              <a:alpha val="20000"/>
            </a:srgbClr>
          </a:solidFill>
          <a:ln w="12700">
            <a:solidFill>
              <a:srgbClr val="028090"/>
            </a:solidFill>
            <a:prstDash val="solid"/>
          </a:ln>
        </p:spPr>
      </p:sp>
      <p:sp>
        <p:nvSpPr>
          <p:cNvPr id="6" name="Text 3"/>
          <p:cNvSpPr/>
          <p:nvPr/>
        </p:nvSpPr>
        <p:spPr>
          <a:xfrm>
            <a:off x="365760" y="4828032"/>
            <a:ext cx="8412480" cy="228600"/>
          </a:xfrm>
          <a:prstGeom prst="rect">
            <a:avLst/>
          </a:prstGeom>
          <a:noFill/>
          <a:ln/>
        </p:spPr>
        <p:txBody>
          <a:bodyPr wrap="square" lIns="0" tIns="0" rIns="0" bIns="0" rtlCol="0" anchor="ctr"/>
          <a:lstStyle/>
          <a:p>
            <a:pPr marL="0" indent="0" algn="ctr">
              <a:buNone/>
            </a:pPr>
            <a:r>
              <a:rPr lang="en-US" sz="1400" dirty="0">
                <a:solidFill>
                  <a:srgbClr val="0D1B3E"/>
                </a:solidFill>
                <a:latin typeface="Calibri" pitchFamily="34" charset="0"/>
                <a:ea typeface="Calibri" pitchFamily="34" charset="-122"/>
                <a:cs typeface="Calibri" pitchFamily="34" charset="-120"/>
              </a:rPr>
              <a:t> 1. United States(US) leads at $823K - nearly 2. Great Britain (GB) $355K</a:t>
            </a:r>
            <a:endParaRPr lang="en-US" sz="1400" dirty="0"/>
          </a:p>
        </p:txBody>
      </p:sp>
      <p:pic>
        <p:nvPicPr>
          <p:cNvPr id="8" name="Picture 7">
            <a:extLst>
              <a:ext uri="{FF2B5EF4-FFF2-40B4-BE49-F238E27FC236}">
                <a16:creationId xmlns:a16="http://schemas.microsoft.com/office/drawing/2014/main" id="{77F01328-2AF4-3A9B-4D5C-FD36731494FA}"/>
              </a:ext>
            </a:extLst>
          </p:cNvPr>
          <p:cNvPicPr>
            <a:picLocks noChangeAspect="1"/>
          </p:cNvPicPr>
          <p:nvPr/>
        </p:nvPicPr>
        <p:blipFill>
          <a:blip r:embed="rId3"/>
          <a:stretch>
            <a:fillRect/>
          </a:stretch>
        </p:blipFill>
        <p:spPr>
          <a:xfrm>
            <a:off x="365759" y="685800"/>
            <a:ext cx="8521065" cy="398859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29019"/>
          </a:xfrm>
          <a:prstGeom prst="rect">
            <a:avLst/>
          </a:prstGeom>
          <a:solidFill>
            <a:srgbClr val="0D1B3E"/>
          </a:solidFill>
          <a:ln w="12700">
            <a:solidFill>
              <a:srgbClr val="0D1B3E"/>
            </a:solidFill>
            <a:prstDash val="solid"/>
          </a:ln>
        </p:spPr>
      </p:sp>
      <p:sp>
        <p:nvSpPr>
          <p:cNvPr id="3" name="Text 1"/>
          <p:cNvSpPr/>
          <p:nvPr/>
        </p:nvSpPr>
        <p:spPr>
          <a:xfrm>
            <a:off x="365760" y="0"/>
            <a:ext cx="8412480" cy="529019"/>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Sales Forecast — Facebook Prophet</a:t>
            </a:r>
            <a:endParaRPr lang="en-US" sz="2200" dirty="0"/>
          </a:p>
        </p:txBody>
      </p:sp>
      <p:sp>
        <p:nvSpPr>
          <p:cNvPr id="4" name="Shape 2"/>
          <p:cNvSpPr/>
          <p:nvPr/>
        </p:nvSpPr>
        <p:spPr>
          <a:xfrm>
            <a:off x="365760" y="1032605"/>
            <a:ext cx="1965960" cy="958596"/>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5" name="Shape 3"/>
          <p:cNvSpPr/>
          <p:nvPr/>
        </p:nvSpPr>
        <p:spPr>
          <a:xfrm>
            <a:off x="365760" y="1032605"/>
            <a:ext cx="1965960" cy="54864"/>
          </a:xfrm>
          <a:prstGeom prst="rect">
            <a:avLst/>
          </a:prstGeom>
          <a:solidFill>
            <a:srgbClr val="028090"/>
          </a:solidFill>
          <a:ln w="12700">
            <a:solidFill>
              <a:srgbClr val="028090"/>
            </a:solidFill>
            <a:prstDash val="solid"/>
          </a:ln>
        </p:spPr>
      </p:sp>
      <p:sp>
        <p:nvSpPr>
          <p:cNvPr id="6" name="Text 4"/>
          <p:cNvSpPr/>
          <p:nvPr/>
        </p:nvSpPr>
        <p:spPr>
          <a:xfrm>
            <a:off x="457200" y="1105757"/>
            <a:ext cx="1783080" cy="36576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Projected Revenue</a:t>
            </a:r>
            <a:endParaRPr lang="en-US" sz="1000" dirty="0"/>
          </a:p>
          <a:p>
            <a:pPr marL="0" indent="0">
              <a:buNone/>
            </a:pPr>
            <a:endParaRPr lang="en-US" sz="1000" dirty="0"/>
          </a:p>
        </p:txBody>
      </p:sp>
      <p:sp>
        <p:nvSpPr>
          <p:cNvPr id="8" name="Shape 6"/>
          <p:cNvSpPr/>
          <p:nvPr/>
        </p:nvSpPr>
        <p:spPr>
          <a:xfrm>
            <a:off x="2514600" y="1032605"/>
            <a:ext cx="1965960" cy="958596"/>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9" name="Shape 7"/>
          <p:cNvSpPr/>
          <p:nvPr/>
        </p:nvSpPr>
        <p:spPr>
          <a:xfrm>
            <a:off x="2514600" y="1032605"/>
            <a:ext cx="1965960" cy="54864"/>
          </a:xfrm>
          <a:prstGeom prst="rect">
            <a:avLst/>
          </a:prstGeom>
          <a:solidFill>
            <a:srgbClr val="02C39A"/>
          </a:solidFill>
          <a:ln w="12700">
            <a:solidFill>
              <a:srgbClr val="02C39A"/>
            </a:solidFill>
            <a:prstDash val="solid"/>
          </a:ln>
        </p:spPr>
      </p:sp>
      <p:sp>
        <p:nvSpPr>
          <p:cNvPr id="10" name="Text 8"/>
          <p:cNvSpPr/>
          <p:nvPr/>
        </p:nvSpPr>
        <p:spPr>
          <a:xfrm>
            <a:off x="2606040" y="1105757"/>
            <a:ext cx="1783080" cy="36576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Avg Daily Revenue</a:t>
            </a:r>
            <a:endParaRPr lang="en-US" sz="1000" dirty="0"/>
          </a:p>
        </p:txBody>
      </p:sp>
      <p:sp>
        <p:nvSpPr>
          <p:cNvPr id="11" name="Text 9"/>
          <p:cNvSpPr/>
          <p:nvPr/>
        </p:nvSpPr>
        <p:spPr>
          <a:xfrm>
            <a:off x="2592352" y="1471517"/>
            <a:ext cx="1783080" cy="594360"/>
          </a:xfrm>
          <a:prstGeom prst="rect">
            <a:avLst/>
          </a:prstGeom>
          <a:noFill/>
          <a:ln/>
        </p:spPr>
        <p:txBody>
          <a:bodyPr wrap="square" rtlCol="0" anchor="ctr"/>
          <a:lstStyle/>
          <a:p>
            <a:pPr marL="0" indent="0">
              <a:buNone/>
            </a:pPr>
            <a:r>
              <a:rPr lang="en-US" sz="2400" b="1" dirty="0">
                <a:solidFill>
                  <a:srgbClr val="0D1B3E"/>
                </a:solidFill>
                <a:latin typeface="Calibri" pitchFamily="34" charset="0"/>
                <a:ea typeface="Calibri" pitchFamily="34" charset="-122"/>
                <a:cs typeface="Calibri" pitchFamily="34" charset="-120"/>
              </a:rPr>
              <a:t>$2,075</a:t>
            </a:r>
            <a:endParaRPr lang="en-US" sz="2400" dirty="0"/>
          </a:p>
        </p:txBody>
      </p:sp>
      <p:sp>
        <p:nvSpPr>
          <p:cNvPr id="12" name="Shape 10"/>
          <p:cNvSpPr/>
          <p:nvPr/>
        </p:nvSpPr>
        <p:spPr>
          <a:xfrm>
            <a:off x="4663440" y="1032605"/>
            <a:ext cx="1965960" cy="958596"/>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13" name="Shape 11"/>
          <p:cNvSpPr/>
          <p:nvPr/>
        </p:nvSpPr>
        <p:spPr>
          <a:xfrm>
            <a:off x="4663440" y="1032605"/>
            <a:ext cx="1965960" cy="54864"/>
          </a:xfrm>
          <a:prstGeom prst="rect">
            <a:avLst/>
          </a:prstGeom>
          <a:solidFill>
            <a:srgbClr val="F4A261"/>
          </a:solidFill>
          <a:ln w="12700">
            <a:solidFill>
              <a:srgbClr val="F4A261"/>
            </a:solidFill>
            <a:prstDash val="solid"/>
          </a:ln>
        </p:spPr>
      </p:sp>
      <p:sp>
        <p:nvSpPr>
          <p:cNvPr id="14" name="Text 12"/>
          <p:cNvSpPr/>
          <p:nvPr/>
        </p:nvSpPr>
        <p:spPr>
          <a:xfrm>
            <a:off x="4754880" y="1105757"/>
            <a:ext cx="1783080" cy="36576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Peak Forecast Day</a:t>
            </a:r>
            <a:endParaRPr lang="en-US" sz="1000" dirty="0"/>
          </a:p>
        </p:txBody>
      </p:sp>
      <p:sp>
        <p:nvSpPr>
          <p:cNvPr id="15" name="Text 13"/>
          <p:cNvSpPr/>
          <p:nvPr/>
        </p:nvSpPr>
        <p:spPr>
          <a:xfrm>
            <a:off x="4754880" y="1471517"/>
            <a:ext cx="1783080" cy="594360"/>
          </a:xfrm>
          <a:prstGeom prst="rect">
            <a:avLst/>
          </a:prstGeom>
          <a:noFill/>
          <a:ln/>
        </p:spPr>
        <p:txBody>
          <a:bodyPr wrap="square" rtlCol="0" anchor="ctr"/>
          <a:lstStyle/>
          <a:p>
            <a:pPr marL="0" indent="0">
              <a:buNone/>
            </a:pPr>
            <a:r>
              <a:rPr lang="en-US" sz="2400" b="1" dirty="0">
                <a:solidFill>
                  <a:srgbClr val="0D1B3E"/>
                </a:solidFill>
                <a:latin typeface="Calibri" pitchFamily="34" charset="0"/>
                <a:ea typeface="Calibri" pitchFamily="34" charset="-122"/>
                <a:cs typeface="Calibri" pitchFamily="34" charset="-120"/>
              </a:rPr>
              <a:t>$2,590</a:t>
            </a:r>
            <a:endParaRPr lang="en-US" sz="2400" dirty="0"/>
          </a:p>
        </p:txBody>
      </p:sp>
      <p:sp>
        <p:nvSpPr>
          <p:cNvPr id="16" name="Shape 14"/>
          <p:cNvSpPr/>
          <p:nvPr/>
        </p:nvSpPr>
        <p:spPr>
          <a:xfrm>
            <a:off x="6812280" y="1032605"/>
            <a:ext cx="1965960" cy="958596"/>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17" name="Shape 15"/>
          <p:cNvSpPr/>
          <p:nvPr/>
        </p:nvSpPr>
        <p:spPr>
          <a:xfrm>
            <a:off x="6812280" y="1032605"/>
            <a:ext cx="1965960" cy="54864"/>
          </a:xfrm>
          <a:prstGeom prst="rect">
            <a:avLst/>
          </a:prstGeom>
          <a:solidFill>
            <a:srgbClr val="E76F51"/>
          </a:solidFill>
          <a:ln w="12700">
            <a:solidFill>
              <a:srgbClr val="E76F51"/>
            </a:solidFill>
            <a:prstDash val="solid"/>
          </a:ln>
        </p:spPr>
      </p:sp>
      <p:sp>
        <p:nvSpPr>
          <p:cNvPr id="18" name="Text 16"/>
          <p:cNvSpPr/>
          <p:nvPr/>
        </p:nvSpPr>
        <p:spPr>
          <a:xfrm>
            <a:off x="6903720" y="1105757"/>
            <a:ext cx="1783080" cy="36576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Lowest Forecast Day</a:t>
            </a:r>
            <a:endParaRPr lang="en-US" sz="1000" dirty="0"/>
          </a:p>
        </p:txBody>
      </p:sp>
      <p:sp>
        <p:nvSpPr>
          <p:cNvPr id="19" name="Text 17"/>
          <p:cNvSpPr/>
          <p:nvPr/>
        </p:nvSpPr>
        <p:spPr>
          <a:xfrm>
            <a:off x="6903720" y="1471517"/>
            <a:ext cx="1783080" cy="594360"/>
          </a:xfrm>
          <a:prstGeom prst="rect">
            <a:avLst/>
          </a:prstGeom>
          <a:noFill/>
          <a:ln/>
        </p:spPr>
        <p:txBody>
          <a:bodyPr wrap="square" rtlCol="0" anchor="ctr"/>
          <a:lstStyle/>
          <a:p>
            <a:pPr marL="0" indent="0">
              <a:buNone/>
            </a:pPr>
            <a:r>
              <a:rPr lang="en-US" sz="2400" b="1" dirty="0">
                <a:solidFill>
                  <a:srgbClr val="0D1B3E"/>
                </a:solidFill>
                <a:latin typeface="Calibri" pitchFamily="34" charset="0"/>
                <a:ea typeface="Calibri" pitchFamily="34" charset="-122"/>
                <a:cs typeface="Calibri" pitchFamily="34" charset="-120"/>
              </a:rPr>
              <a:t>$1,687</a:t>
            </a:r>
            <a:endParaRPr lang="en-US" sz="2400" dirty="0"/>
          </a:p>
        </p:txBody>
      </p:sp>
      <p:sp>
        <p:nvSpPr>
          <p:cNvPr id="45" name="Shape 2">
            <a:extLst>
              <a:ext uri="{FF2B5EF4-FFF2-40B4-BE49-F238E27FC236}">
                <a16:creationId xmlns:a16="http://schemas.microsoft.com/office/drawing/2014/main" id="{28EBA0F2-65ED-8974-1402-8830CCB79507}"/>
              </a:ext>
            </a:extLst>
          </p:cNvPr>
          <p:cNvSpPr/>
          <p:nvPr/>
        </p:nvSpPr>
        <p:spPr>
          <a:xfrm>
            <a:off x="365760" y="2468879"/>
            <a:ext cx="1965960" cy="927925"/>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46" name="Shape 3">
            <a:extLst>
              <a:ext uri="{FF2B5EF4-FFF2-40B4-BE49-F238E27FC236}">
                <a16:creationId xmlns:a16="http://schemas.microsoft.com/office/drawing/2014/main" id="{1895B927-141F-97D7-6E7B-1AB046FFC779}"/>
              </a:ext>
            </a:extLst>
          </p:cNvPr>
          <p:cNvSpPr/>
          <p:nvPr/>
        </p:nvSpPr>
        <p:spPr>
          <a:xfrm>
            <a:off x="365760" y="2468879"/>
            <a:ext cx="1965960" cy="54864"/>
          </a:xfrm>
          <a:prstGeom prst="rect">
            <a:avLst/>
          </a:prstGeom>
          <a:solidFill>
            <a:srgbClr val="028090"/>
          </a:solidFill>
          <a:ln w="12700">
            <a:solidFill>
              <a:srgbClr val="028090"/>
            </a:solidFill>
            <a:prstDash val="solid"/>
          </a:ln>
        </p:spPr>
      </p:sp>
      <p:sp>
        <p:nvSpPr>
          <p:cNvPr id="47" name="Text 4">
            <a:extLst>
              <a:ext uri="{FF2B5EF4-FFF2-40B4-BE49-F238E27FC236}">
                <a16:creationId xmlns:a16="http://schemas.microsoft.com/office/drawing/2014/main" id="{1B43B2E0-1F87-DA48-F772-CC74C80CC44C}"/>
              </a:ext>
            </a:extLst>
          </p:cNvPr>
          <p:cNvSpPr/>
          <p:nvPr/>
        </p:nvSpPr>
        <p:spPr>
          <a:xfrm>
            <a:off x="457200" y="2542031"/>
            <a:ext cx="1783080" cy="36576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Projected Revenue</a:t>
            </a:r>
            <a:endParaRPr lang="en-US" sz="1000" dirty="0"/>
          </a:p>
          <a:p>
            <a:pPr marL="0" indent="0">
              <a:buNone/>
            </a:pPr>
            <a:endParaRPr lang="en-US" sz="1000" dirty="0"/>
          </a:p>
        </p:txBody>
      </p:sp>
      <p:sp>
        <p:nvSpPr>
          <p:cNvPr id="48" name="Text 5">
            <a:extLst>
              <a:ext uri="{FF2B5EF4-FFF2-40B4-BE49-F238E27FC236}">
                <a16:creationId xmlns:a16="http://schemas.microsoft.com/office/drawing/2014/main" id="{166FF19A-E66E-3107-F353-DDBB9FB689F7}"/>
              </a:ext>
            </a:extLst>
          </p:cNvPr>
          <p:cNvSpPr/>
          <p:nvPr/>
        </p:nvSpPr>
        <p:spPr>
          <a:xfrm>
            <a:off x="457200" y="2907791"/>
            <a:ext cx="1783080" cy="594360"/>
          </a:xfrm>
          <a:prstGeom prst="rect">
            <a:avLst/>
          </a:prstGeom>
          <a:noFill/>
          <a:ln/>
        </p:spPr>
        <p:txBody>
          <a:bodyPr wrap="square" rtlCol="0" anchor="ctr"/>
          <a:lstStyle/>
          <a:p>
            <a:pPr marL="0" indent="0">
              <a:buNone/>
            </a:pPr>
            <a:r>
              <a:rPr lang="en-US" sz="2400" b="1" dirty="0">
                <a:solidFill>
                  <a:srgbClr val="0D1B3E"/>
                </a:solidFill>
                <a:latin typeface="Calibri" pitchFamily="34" charset="0"/>
                <a:ea typeface="Calibri" pitchFamily="34" charset="-122"/>
                <a:cs typeface="Calibri" pitchFamily="34" charset="-120"/>
              </a:rPr>
              <a:t>$121,471</a:t>
            </a:r>
            <a:endParaRPr lang="en-US" sz="2400" dirty="0"/>
          </a:p>
        </p:txBody>
      </p:sp>
      <p:sp>
        <p:nvSpPr>
          <p:cNvPr id="49" name="Shape 6">
            <a:extLst>
              <a:ext uri="{FF2B5EF4-FFF2-40B4-BE49-F238E27FC236}">
                <a16:creationId xmlns:a16="http://schemas.microsoft.com/office/drawing/2014/main" id="{A7452D30-7639-ACCD-776F-1DCD539C84C9}"/>
              </a:ext>
            </a:extLst>
          </p:cNvPr>
          <p:cNvSpPr/>
          <p:nvPr/>
        </p:nvSpPr>
        <p:spPr>
          <a:xfrm>
            <a:off x="2514600" y="2468879"/>
            <a:ext cx="1965960" cy="927925"/>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50" name="Shape 7">
            <a:extLst>
              <a:ext uri="{FF2B5EF4-FFF2-40B4-BE49-F238E27FC236}">
                <a16:creationId xmlns:a16="http://schemas.microsoft.com/office/drawing/2014/main" id="{33CD2A30-DB6F-EC4A-0E28-046C018F9B98}"/>
              </a:ext>
            </a:extLst>
          </p:cNvPr>
          <p:cNvSpPr/>
          <p:nvPr/>
        </p:nvSpPr>
        <p:spPr>
          <a:xfrm>
            <a:off x="2514600" y="2468879"/>
            <a:ext cx="1965960" cy="54864"/>
          </a:xfrm>
          <a:prstGeom prst="rect">
            <a:avLst/>
          </a:prstGeom>
          <a:solidFill>
            <a:srgbClr val="02C39A"/>
          </a:solidFill>
          <a:ln w="12700">
            <a:solidFill>
              <a:srgbClr val="02C39A"/>
            </a:solidFill>
            <a:prstDash val="solid"/>
          </a:ln>
        </p:spPr>
      </p:sp>
      <p:sp>
        <p:nvSpPr>
          <p:cNvPr id="51" name="Text 8">
            <a:extLst>
              <a:ext uri="{FF2B5EF4-FFF2-40B4-BE49-F238E27FC236}">
                <a16:creationId xmlns:a16="http://schemas.microsoft.com/office/drawing/2014/main" id="{D78CD3EA-409F-E2CC-9F26-EAC6F85DCE27}"/>
              </a:ext>
            </a:extLst>
          </p:cNvPr>
          <p:cNvSpPr/>
          <p:nvPr/>
        </p:nvSpPr>
        <p:spPr>
          <a:xfrm>
            <a:off x="2606040" y="2542031"/>
            <a:ext cx="1783080" cy="36576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Avg Daily Revenue</a:t>
            </a:r>
            <a:endParaRPr lang="en-US" sz="1000" dirty="0"/>
          </a:p>
        </p:txBody>
      </p:sp>
      <p:sp>
        <p:nvSpPr>
          <p:cNvPr id="52" name="Text 9">
            <a:extLst>
              <a:ext uri="{FF2B5EF4-FFF2-40B4-BE49-F238E27FC236}">
                <a16:creationId xmlns:a16="http://schemas.microsoft.com/office/drawing/2014/main" id="{A3F22FA6-348E-538C-E9D2-F04098F5EE6B}"/>
              </a:ext>
            </a:extLst>
          </p:cNvPr>
          <p:cNvSpPr/>
          <p:nvPr/>
        </p:nvSpPr>
        <p:spPr>
          <a:xfrm>
            <a:off x="2606040" y="2907791"/>
            <a:ext cx="1783080" cy="594360"/>
          </a:xfrm>
          <a:prstGeom prst="rect">
            <a:avLst/>
          </a:prstGeom>
          <a:noFill/>
          <a:ln/>
        </p:spPr>
        <p:txBody>
          <a:bodyPr wrap="square" rtlCol="0" anchor="ctr"/>
          <a:lstStyle/>
          <a:p>
            <a:pPr marL="0" indent="0">
              <a:buNone/>
            </a:pPr>
            <a:r>
              <a:rPr lang="en-US" sz="2400" b="1" dirty="0">
                <a:solidFill>
                  <a:srgbClr val="0D1B3E"/>
                </a:solidFill>
                <a:latin typeface="Calibri" pitchFamily="34" charset="0"/>
                <a:ea typeface="Calibri" pitchFamily="34" charset="-122"/>
                <a:cs typeface="Calibri" pitchFamily="34" charset="-120"/>
              </a:rPr>
              <a:t>$2,025</a:t>
            </a:r>
            <a:endParaRPr lang="en-US" sz="2400" dirty="0"/>
          </a:p>
        </p:txBody>
      </p:sp>
      <p:sp>
        <p:nvSpPr>
          <p:cNvPr id="53" name="Shape 10">
            <a:extLst>
              <a:ext uri="{FF2B5EF4-FFF2-40B4-BE49-F238E27FC236}">
                <a16:creationId xmlns:a16="http://schemas.microsoft.com/office/drawing/2014/main" id="{90E4EAFC-1892-E86D-03A1-C42AE35A6502}"/>
              </a:ext>
            </a:extLst>
          </p:cNvPr>
          <p:cNvSpPr/>
          <p:nvPr/>
        </p:nvSpPr>
        <p:spPr>
          <a:xfrm>
            <a:off x="4663440" y="2468879"/>
            <a:ext cx="1965960" cy="927925"/>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54" name="Shape 11">
            <a:extLst>
              <a:ext uri="{FF2B5EF4-FFF2-40B4-BE49-F238E27FC236}">
                <a16:creationId xmlns:a16="http://schemas.microsoft.com/office/drawing/2014/main" id="{6FA1DCF5-537B-1020-0A4B-CC2327B8E16E}"/>
              </a:ext>
            </a:extLst>
          </p:cNvPr>
          <p:cNvSpPr/>
          <p:nvPr/>
        </p:nvSpPr>
        <p:spPr>
          <a:xfrm>
            <a:off x="4663440" y="2468879"/>
            <a:ext cx="1965960" cy="54864"/>
          </a:xfrm>
          <a:prstGeom prst="rect">
            <a:avLst/>
          </a:prstGeom>
          <a:solidFill>
            <a:srgbClr val="F4A261"/>
          </a:solidFill>
          <a:ln w="12700">
            <a:solidFill>
              <a:srgbClr val="F4A261"/>
            </a:solidFill>
            <a:prstDash val="solid"/>
          </a:ln>
        </p:spPr>
      </p:sp>
      <p:sp>
        <p:nvSpPr>
          <p:cNvPr id="55" name="Text 12">
            <a:extLst>
              <a:ext uri="{FF2B5EF4-FFF2-40B4-BE49-F238E27FC236}">
                <a16:creationId xmlns:a16="http://schemas.microsoft.com/office/drawing/2014/main" id="{E3DBD903-E028-1DB0-CD21-967F04075FB0}"/>
              </a:ext>
            </a:extLst>
          </p:cNvPr>
          <p:cNvSpPr/>
          <p:nvPr/>
        </p:nvSpPr>
        <p:spPr>
          <a:xfrm>
            <a:off x="4754880" y="2542031"/>
            <a:ext cx="1783080" cy="36576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Peak Forecast Day</a:t>
            </a:r>
            <a:endParaRPr lang="en-US" sz="1000" dirty="0"/>
          </a:p>
        </p:txBody>
      </p:sp>
      <p:sp>
        <p:nvSpPr>
          <p:cNvPr id="56" name="Text 13">
            <a:extLst>
              <a:ext uri="{FF2B5EF4-FFF2-40B4-BE49-F238E27FC236}">
                <a16:creationId xmlns:a16="http://schemas.microsoft.com/office/drawing/2014/main" id="{17B90B96-0482-D48F-3909-D45CBB030176}"/>
              </a:ext>
            </a:extLst>
          </p:cNvPr>
          <p:cNvSpPr/>
          <p:nvPr/>
        </p:nvSpPr>
        <p:spPr>
          <a:xfrm>
            <a:off x="4754880" y="2907791"/>
            <a:ext cx="1783080" cy="594360"/>
          </a:xfrm>
          <a:prstGeom prst="rect">
            <a:avLst/>
          </a:prstGeom>
          <a:noFill/>
          <a:ln/>
        </p:spPr>
        <p:txBody>
          <a:bodyPr wrap="square" rtlCol="0" anchor="ctr"/>
          <a:lstStyle/>
          <a:p>
            <a:pPr marL="0" indent="0">
              <a:buNone/>
            </a:pPr>
            <a:r>
              <a:rPr lang="en-US" sz="2400" b="1" dirty="0">
                <a:solidFill>
                  <a:srgbClr val="0D1B3E"/>
                </a:solidFill>
                <a:latin typeface="Calibri" pitchFamily="34" charset="0"/>
                <a:ea typeface="Calibri" pitchFamily="34" charset="-122"/>
                <a:cs typeface="Calibri" pitchFamily="34" charset="-120"/>
              </a:rPr>
              <a:t>$2,590</a:t>
            </a:r>
            <a:endParaRPr lang="en-US" sz="2400" dirty="0"/>
          </a:p>
        </p:txBody>
      </p:sp>
      <p:sp>
        <p:nvSpPr>
          <p:cNvPr id="57" name="Shape 14">
            <a:extLst>
              <a:ext uri="{FF2B5EF4-FFF2-40B4-BE49-F238E27FC236}">
                <a16:creationId xmlns:a16="http://schemas.microsoft.com/office/drawing/2014/main" id="{FD94A2A1-D910-28C1-E442-A4348E9AE69C}"/>
              </a:ext>
            </a:extLst>
          </p:cNvPr>
          <p:cNvSpPr/>
          <p:nvPr/>
        </p:nvSpPr>
        <p:spPr>
          <a:xfrm>
            <a:off x="6812280" y="2468879"/>
            <a:ext cx="1965960" cy="927925"/>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58" name="Shape 15">
            <a:extLst>
              <a:ext uri="{FF2B5EF4-FFF2-40B4-BE49-F238E27FC236}">
                <a16:creationId xmlns:a16="http://schemas.microsoft.com/office/drawing/2014/main" id="{63A53E2B-0B27-13DD-468F-31B71BBBABEF}"/>
              </a:ext>
            </a:extLst>
          </p:cNvPr>
          <p:cNvSpPr/>
          <p:nvPr/>
        </p:nvSpPr>
        <p:spPr>
          <a:xfrm>
            <a:off x="6812280" y="2468879"/>
            <a:ext cx="1965960" cy="54864"/>
          </a:xfrm>
          <a:prstGeom prst="rect">
            <a:avLst/>
          </a:prstGeom>
          <a:solidFill>
            <a:srgbClr val="E76F51"/>
          </a:solidFill>
          <a:ln w="12700">
            <a:solidFill>
              <a:srgbClr val="E76F51"/>
            </a:solidFill>
            <a:prstDash val="solid"/>
          </a:ln>
        </p:spPr>
      </p:sp>
      <p:sp>
        <p:nvSpPr>
          <p:cNvPr id="59" name="Text 16">
            <a:extLst>
              <a:ext uri="{FF2B5EF4-FFF2-40B4-BE49-F238E27FC236}">
                <a16:creationId xmlns:a16="http://schemas.microsoft.com/office/drawing/2014/main" id="{92DAE4FF-FA0C-8BE4-CBB6-B2A3AF1B4D09}"/>
              </a:ext>
            </a:extLst>
          </p:cNvPr>
          <p:cNvSpPr/>
          <p:nvPr/>
        </p:nvSpPr>
        <p:spPr>
          <a:xfrm>
            <a:off x="6903720" y="2542031"/>
            <a:ext cx="1783080" cy="36576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Lowest Forecast Day</a:t>
            </a:r>
            <a:endParaRPr lang="en-US" sz="1000" dirty="0"/>
          </a:p>
        </p:txBody>
      </p:sp>
      <p:sp>
        <p:nvSpPr>
          <p:cNvPr id="60" name="Text 17">
            <a:extLst>
              <a:ext uri="{FF2B5EF4-FFF2-40B4-BE49-F238E27FC236}">
                <a16:creationId xmlns:a16="http://schemas.microsoft.com/office/drawing/2014/main" id="{AB25C2F8-55A5-E385-D016-655ED1FDA30B}"/>
              </a:ext>
            </a:extLst>
          </p:cNvPr>
          <p:cNvSpPr/>
          <p:nvPr/>
        </p:nvSpPr>
        <p:spPr>
          <a:xfrm>
            <a:off x="6903720" y="2907791"/>
            <a:ext cx="1783080" cy="594360"/>
          </a:xfrm>
          <a:prstGeom prst="rect">
            <a:avLst/>
          </a:prstGeom>
          <a:noFill/>
          <a:ln/>
        </p:spPr>
        <p:txBody>
          <a:bodyPr wrap="square" rtlCol="0" anchor="ctr"/>
          <a:lstStyle/>
          <a:p>
            <a:pPr marL="0" indent="0">
              <a:buNone/>
            </a:pPr>
            <a:r>
              <a:rPr lang="en-US" sz="2400" b="1" dirty="0">
                <a:solidFill>
                  <a:srgbClr val="0D1B3E"/>
                </a:solidFill>
                <a:latin typeface="Calibri" pitchFamily="34" charset="0"/>
                <a:ea typeface="Calibri" pitchFamily="34" charset="-122"/>
                <a:cs typeface="Calibri" pitchFamily="34" charset="-120"/>
              </a:rPr>
              <a:t>$1,645</a:t>
            </a:r>
            <a:endParaRPr lang="en-US" sz="2400" dirty="0"/>
          </a:p>
        </p:txBody>
      </p:sp>
      <p:sp>
        <p:nvSpPr>
          <p:cNvPr id="61" name="Shape 2">
            <a:extLst>
              <a:ext uri="{FF2B5EF4-FFF2-40B4-BE49-F238E27FC236}">
                <a16:creationId xmlns:a16="http://schemas.microsoft.com/office/drawing/2014/main" id="{2B5E6F9F-B63C-5F31-7DED-332BE7660394}"/>
              </a:ext>
            </a:extLst>
          </p:cNvPr>
          <p:cNvSpPr/>
          <p:nvPr/>
        </p:nvSpPr>
        <p:spPr>
          <a:xfrm>
            <a:off x="365760" y="3878008"/>
            <a:ext cx="1965960" cy="927925"/>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62" name="Shape 3">
            <a:extLst>
              <a:ext uri="{FF2B5EF4-FFF2-40B4-BE49-F238E27FC236}">
                <a16:creationId xmlns:a16="http://schemas.microsoft.com/office/drawing/2014/main" id="{E1537A54-5342-6937-0622-63F92BFDB484}"/>
              </a:ext>
            </a:extLst>
          </p:cNvPr>
          <p:cNvSpPr/>
          <p:nvPr/>
        </p:nvSpPr>
        <p:spPr>
          <a:xfrm>
            <a:off x="365760" y="3878008"/>
            <a:ext cx="1965960" cy="54864"/>
          </a:xfrm>
          <a:prstGeom prst="rect">
            <a:avLst/>
          </a:prstGeom>
          <a:solidFill>
            <a:srgbClr val="028090"/>
          </a:solidFill>
          <a:ln w="12700">
            <a:solidFill>
              <a:srgbClr val="028090"/>
            </a:solidFill>
            <a:prstDash val="solid"/>
          </a:ln>
        </p:spPr>
      </p:sp>
      <p:sp>
        <p:nvSpPr>
          <p:cNvPr id="63" name="Text 4">
            <a:extLst>
              <a:ext uri="{FF2B5EF4-FFF2-40B4-BE49-F238E27FC236}">
                <a16:creationId xmlns:a16="http://schemas.microsoft.com/office/drawing/2014/main" id="{E6C113D9-B42D-3B4A-6AB3-63F97713D38A}"/>
              </a:ext>
            </a:extLst>
          </p:cNvPr>
          <p:cNvSpPr/>
          <p:nvPr/>
        </p:nvSpPr>
        <p:spPr>
          <a:xfrm>
            <a:off x="457200" y="3951160"/>
            <a:ext cx="1783080" cy="36576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Projected Revenue</a:t>
            </a:r>
            <a:endParaRPr lang="en-US" sz="1000" dirty="0"/>
          </a:p>
          <a:p>
            <a:pPr marL="0" indent="0">
              <a:buNone/>
            </a:pPr>
            <a:endParaRPr lang="en-US" sz="1000" dirty="0"/>
          </a:p>
        </p:txBody>
      </p:sp>
      <p:sp>
        <p:nvSpPr>
          <p:cNvPr id="64" name="Text 5">
            <a:extLst>
              <a:ext uri="{FF2B5EF4-FFF2-40B4-BE49-F238E27FC236}">
                <a16:creationId xmlns:a16="http://schemas.microsoft.com/office/drawing/2014/main" id="{0BA1BC2D-2302-EEF5-2191-0DF8C23EE303}"/>
              </a:ext>
            </a:extLst>
          </p:cNvPr>
          <p:cNvSpPr/>
          <p:nvPr/>
        </p:nvSpPr>
        <p:spPr>
          <a:xfrm>
            <a:off x="457200" y="4316920"/>
            <a:ext cx="1783080" cy="594360"/>
          </a:xfrm>
          <a:prstGeom prst="rect">
            <a:avLst/>
          </a:prstGeom>
          <a:noFill/>
          <a:ln/>
        </p:spPr>
        <p:txBody>
          <a:bodyPr wrap="square" rtlCol="0" anchor="ctr"/>
          <a:lstStyle/>
          <a:p>
            <a:pPr marL="0" indent="0">
              <a:buNone/>
            </a:pPr>
            <a:r>
              <a:rPr lang="en-US" sz="2400" b="1" dirty="0">
                <a:solidFill>
                  <a:srgbClr val="0D1B3E"/>
                </a:solidFill>
                <a:latin typeface="Calibri" pitchFamily="34" charset="0"/>
                <a:ea typeface="Calibri" pitchFamily="34" charset="-122"/>
                <a:cs typeface="Calibri" pitchFamily="34" charset="-120"/>
              </a:rPr>
              <a:t>$189,542</a:t>
            </a:r>
            <a:endParaRPr lang="en-US" sz="2400" dirty="0"/>
          </a:p>
        </p:txBody>
      </p:sp>
      <p:sp>
        <p:nvSpPr>
          <p:cNvPr id="65" name="Shape 6">
            <a:extLst>
              <a:ext uri="{FF2B5EF4-FFF2-40B4-BE49-F238E27FC236}">
                <a16:creationId xmlns:a16="http://schemas.microsoft.com/office/drawing/2014/main" id="{A3045FEB-AD02-AF2B-70AE-5697552DEFD6}"/>
              </a:ext>
            </a:extLst>
          </p:cNvPr>
          <p:cNvSpPr/>
          <p:nvPr/>
        </p:nvSpPr>
        <p:spPr>
          <a:xfrm>
            <a:off x="2514600" y="3878008"/>
            <a:ext cx="1965960" cy="927925"/>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66" name="Shape 7">
            <a:extLst>
              <a:ext uri="{FF2B5EF4-FFF2-40B4-BE49-F238E27FC236}">
                <a16:creationId xmlns:a16="http://schemas.microsoft.com/office/drawing/2014/main" id="{DA4F2771-100A-4AA4-4251-E4B29C242F29}"/>
              </a:ext>
            </a:extLst>
          </p:cNvPr>
          <p:cNvSpPr/>
          <p:nvPr/>
        </p:nvSpPr>
        <p:spPr>
          <a:xfrm>
            <a:off x="2514600" y="3878008"/>
            <a:ext cx="1965960" cy="54864"/>
          </a:xfrm>
          <a:prstGeom prst="rect">
            <a:avLst/>
          </a:prstGeom>
          <a:solidFill>
            <a:srgbClr val="02C39A"/>
          </a:solidFill>
          <a:ln w="12700">
            <a:solidFill>
              <a:srgbClr val="02C39A"/>
            </a:solidFill>
            <a:prstDash val="solid"/>
          </a:ln>
        </p:spPr>
      </p:sp>
      <p:sp>
        <p:nvSpPr>
          <p:cNvPr id="67" name="Text 8">
            <a:extLst>
              <a:ext uri="{FF2B5EF4-FFF2-40B4-BE49-F238E27FC236}">
                <a16:creationId xmlns:a16="http://schemas.microsoft.com/office/drawing/2014/main" id="{542E2797-A90D-3305-9731-D2224FB58F0F}"/>
              </a:ext>
            </a:extLst>
          </p:cNvPr>
          <p:cNvSpPr/>
          <p:nvPr/>
        </p:nvSpPr>
        <p:spPr>
          <a:xfrm>
            <a:off x="2606040" y="3951160"/>
            <a:ext cx="1783080" cy="36576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Avg Daily Revenue</a:t>
            </a:r>
            <a:endParaRPr lang="en-US" sz="1000" dirty="0"/>
          </a:p>
        </p:txBody>
      </p:sp>
      <p:sp>
        <p:nvSpPr>
          <p:cNvPr id="68" name="Text 9">
            <a:extLst>
              <a:ext uri="{FF2B5EF4-FFF2-40B4-BE49-F238E27FC236}">
                <a16:creationId xmlns:a16="http://schemas.microsoft.com/office/drawing/2014/main" id="{AC32BC30-2EFE-9338-381E-21E80FC1E7E7}"/>
              </a:ext>
            </a:extLst>
          </p:cNvPr>
          <p:cNvSpPr/>
          <p:nvPr/>
        </p:nvSpPr>
        <p:spPr>
          <a:xfrm>
            <a:off x="2606040" y="4316920"/>
            <a:ext cx="1783080" cy="594360"/>
          </a:xfrm>
          <a:prstGeom prst="rect">
            <a:avLst/>
          </a:prstGeom>
          <a:noFill/>
          <a:ln/>
        </p:spPr>
        <p:txBody>
          <a:bodyPr wrap="square" rtlCol="0" anchor="ctr"/>
          <a:lstStyle/>
          <a:p>
            <a:pPr marL="0" indent="0">
              <a:buNone/>
            </a:pPr>
            <a:r>
              <a:rPr lang="en-US" sz="2400" b="1" dirty="0">
                <a:solidFill>
                  <a:srgbClr val="0D1B3E"/>
                </a:solidFill>
                <a:latin typeface="Calibri" pitchFamily="34" charset="0"/>
                <a:ea typeface="Calibri" pitchFamily="34" charset="-122"/>
                <a:cs typeface="Calibri" pitchFamily="34" charset="-120"/>
              </a:rPr>
              <a:t>$2,106</a:t>
            </a:r>
            <a:endParaRPr lang="en-US" sz="2400" dirty="0"/>
          </a:p>
        </p:txBody>
      </p:sp>
      <p:sp>
        <p:nvSpPr>
          <p:cNvPr id="69" name="Shape 10">
            <a:extLst>
              <a:ext uri="{FF2B5EF4-FFF2-40B4-BE49-F238E27FC236}">
                <a16:creationId xmlns:a16="http://schemas.microsoft.com/office/drawing/2014/main" id="{9916E392-0074-A732-21CE-462BC1F25B73}"/>
              </a:ext>
            </a:extLst>
          </p:cNvPr>
          <p:cNvSpPr/>
          <p:nvPr/>
        </p:nvSpPr>
        <p:spPr>
          <a:xfrm>
            <a:off x="4663440" y="3878008"/>
            <a:ext cx="1965960" cy="927925"/>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70" name="Shape 11">
            <a:extLst>
              <a:ext uri="{FF2B5EF4-FFF2-40B4-BE49-F238E27FC236}">
                <a16:creationId xmlns:a16="http://schemas.microsoft.com/office/drawing/2014/main" id="{0E47158F-6A28-239F-6ACA-85464EA4EF06}"/>
              </a:ext>
            </a:extLst>
          </p:cNvPr>
          <p:cNvSpPr/>
          <p:nvPr/>
        </p:nvSpPr>
        <p:spPr>
          <a:xfrm>
            <a:off x="4663440" y="3878008"/>
            <a:ext cx="1965960" cy="54864"/>
          </a:xfrm>
          <a:prstGeom prst="rect">
            <a:avLst/>
          </a:prstGeom>
          <a:solidFill>
            <a:srgbClr val="F4A261"/>
          </a:solidFill>
          <a:ln w="12700">
            <a:solidFill>
              <a:srgbClr val="F4A261"/>
            </a:solidFill>
            <a:prstDash val="solid"/>
          </a:ln>
        </p:spPr>
      </p:sp>
      <p:sp>
        <p:nvSpPr>
          <p:cNvPr id="71" name="Text 12">
            <a:extLst>
              <a:ext uri="{FF2B5EF4-FFF2-40B4-BE49-F238E27FC236}">
                <a16:creationId xmlns:a16="http://schemas.microsoft.com/office/drawing/2014/main" id="{1A220729-21DE-F26F-E698-79FF9AE295B0}"/>
              </a:ext>
            </a:extLst>
          </p:cNvPr>
          <p:cNvSpPr/>
          <p:nvPr/>
        </p:nvSpPr>
        <p:spPr>
          <a:xfrm>
            <a:off x="4754880" y="3951160"/>
            <a:ext cx="1783080" cy="36576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Peak Forecast Day</a:t>
            </a:r>
            <a:endParaRPr lang="en-US" sz="1000" dirty="0"/>
          </a:p>
        </p:txBody>
      </p:sp>
      <p:sp>
        <p:nvSpPr>
          <p:cNvPr id="72" name="Text 13">
            <a:extLst>
              <a:ext uri="{FF2B5EF4-FFF2-40B4-BE49-F238E27FC236}">
                <a16:creationId xmlns:a16="http://schemas.microsoft.com/office/drawing/2014/main" id="{179872B6-8E31-795A-ECE8-59BE8E500303}"/>
              </a:ext>
            </a:extLst>
          </p:cNvPr>
          <p:cNvSpPr/>
          <p:nvPr/>
        </p:nvSpPr>
        <p:spPr>
          <a:xfrm>
            <a:off x="4754880" y="4316920"/>
            <a:ext cx="1783080" cy="594360"/>
          </a:xfrm>
          <a:prstGeom prst="rect">
            <a:avLst/>
          </a:prstGeom>
          <a:noFill/>
          <a:ln/>
        </p:spPr>
        <p:txBody>
          <a:bodyPr wrap="square" rtlCol="0" anchor="ctr"/>
          <a:lstStyle/>
          <a:p>
            <a:pPr marL="0" indent="0">
              <a:buNone/>
            </a:pPr>
            <a:r>
              <a:rPr lang="en-US" sz="2400" b="1" dirty="0">
                <a:solidFill>
                  <a:srgbClr val="0D1B3E"/>
                </a:solidFill>
                <a:latin typeface="Calibri" pitchFamily="34" charset="0"/>
                <a:ea typeface="Calibri" pitchFamily="34" charset="-122"/>
                <a:cs typeface="Calibri" pitchFamily="34" charset="-120"/>
              </a:rPr>
              <a:t>$2,906</a:t>
            </a:r>
            <a:endParaRPr lang="en-US" sz="2400" dirty="0"/>
          </a:p>
        </p:txBody>
      </p:sp>
      <p:sp>
        <p:nvSpPr>
          <p:cNvPr id="73" name="Shape 14">
            <a:extLst>
              <a:ext uri="{FF2B5EF4-FFF2-40B4-BE49-F238E27FC236}">
                <a16:creationId xmlns:a16="http://schemas.microsoft.com/office/drawing/2014/main" id="{7C1FF84D-D564-0A6F-1010-04FC251840EB}"/>
              </a:ext>
            </a:extLst>
          </p:cNvPr>
          <p:cNvSpPr/>
          <p:nvPr/>
        </p:nvSpPr>
        <p:spPr>
          <a:xfrm>
            <a:off x="6812280" y="3878008"/>
            <a:ext cx="1965960" cy="927925"/>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74" name="Shape 15">
            <a:extLst>
              <a:ext uri="{FF2B5EF4-FFF2-40B4-BE49-F238E27FC236}">
                <a16:creationId xmlns:a16="http://schemas.microsoft.com/office/drawing/2014/main" id="{658A452E-631B-C715-CD2E-0FAE167076F0}"/>
              </a:ext>
            </a:extLst>
          </p:cNvPr>
          <p:cNvSpPr/>
          <p:nvPr/>
        </p:nvSpPr>
        <p:spPr>
          <a:xfrm>
            <a:off x="6812280" y="3878008"/>
            <a:ext cx="1965960" cy="54864"/>
          </a:xfrm>
          <a:prstGeom prst="rect">
            <a:avLst/>
          </a:prstGeom>
          <a:solidFill>
            <a:srgbClr val="E76F51"/>
          </a:solidFill>
          <a:ln w="12700">
            <a:solidFill>
              <a:srgbClr val="E76F51"/>
            </a:solidFill>
            <a:prstDash val="solid"/>
          </a:ln>
        </p:spPr>
      </p:sp>
      <p:sp>
        <p:nvSpPr>
          <p:cNvPr id="75" name="Text 16">
            <a:extLst>
              <a:ext uri="{FF2B5EF4-FFF2-40B4-BE49-F238E27FC236}">
                <a16:creationId xmlns:a16="http://schemas.microsoft.com/office/drawing/2014/main" id="{FAAD9735-9390-83AB-1B1E-BBD44B7A2553}"/>
              </a:ext>
            </a:extLst>
          </p:cNvPr>
          <p:cNvSpPr/>
          <p:nvPr/>
        </p:nvSpPr>
        <p:spPr>
          <a:xfrm>
            <a:off x="6903720" y="3951160"/>
            <a:ext cx="1783080" cy="36576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Lowest Forecast Day</a:t>
            </a:r>
            <a:endParaRPr lang="en-US" sz="1000" dirty="0"/>
          </a:p>
        </p:txBody>
      </p:sp>
      <p:sp>
        <p:nvSpPr>
          <p:cNvPr id="76" name="Text 17">
            <a:extLst>
              <a:ext uri="{FF2B5EF4-FFF2-40B4-BE49-F238E27FC236}">
                <a16:creationId xmlns:a16="http://schemas.microsoft.com/office/drawing/2014/main" id="{D13ED1AE-D295-6FE7-8689-2F0AE56F9C89}"/>
              </a:ext>
            </a:extLst>
          </p:cNvPr>
          <p:cNvSpPr/>
          <p:nvPr/>
        </p:nvSpPr>
        <p:spPr>
          <a:xfrm>
            <a:off x="6903720" y="4316920"/>
            <a:ext cx="1783080" cy="594360"/>
          </a:xfrm>
          <a:prstGeom prst="rect">
            <a:avLst/>
          </a:prstGeom>
          <a:noFill/>
          <a:ln/>
        </p:spPr>
        <p:txBody>
          <a:bodyPr wrap="square" rtlCol="0" anchor="ctr"/>
          <a:lstStyle/>
          <a:p>
            <a:pPr marL="0" indent="0">
              <a:buNone/>
            </a:pPr>
            <a:r>
              <a:rPr lang="en-US" sz="2400" b="1" dirty="0">
                <a:solidFill>
                  <a:srgbClr val="0D1B3E"/>
                </a:solidFill>
                <a:latin typeface="Calibri" pitchFamily="34" charset="0"/>
                <a:ea typeface="Calibri" pitchFamily="34" charset="-122"/>
                <a:cs typeface="Calibri" pitchFamily="34" charset="-120"/>
              </a:rPr>
              <a:t>$1,645</a:t>
            </a:r>
            <a:endParaRPr lang="en-US" sz="2400" dirty="0"/>
          </a:p>
        </p:txBody>
      </p:sp>
      <p:sp>
        <p:nvSpPr>
          <p:cNvPr id="80" name="TextBox 79">
            <a:extLst>
              <a:ext uri="{FF2B5EF4-FFF2-40B4-BE49-F238E27FC236}">
                <a16:creationId xmlns:a16="http://schemas.microsoft.com/office/drawing/2014/main" id="{D44ACFD1-DFF5-03FB-A4C5-AC981EE84393}"/>
              </a:ext>
            </a:extLst>
          </p:cNvPr>
          <p:cNvSpPr txBox="1"/>
          <p:nvPr/>
        </p:nvSpPr>
        <p:spPr>
          <a:xfrm>
            <a:off x="3716179" y="2034730"/>
            <a:ext cx="3270409" cy="338554"/>
          </a:xfrm>
          <a:prstGeom prst="rect">
            <a:avLst/>
          </a:prstGeom>
          <a:noFill/>
        </p:spPr>
        <p:txBody>
          <a:bodyPr wrap="square" rtlCol="0">
            <a:spAutoFit/>
          </a:bodyPr>
          <a:lstStyle/>
          <a:p>
            <a:r>
              <a:rPr lang="en-IN" sz="1600" b="1" dirty="0"/>
              <a:t>60 Days Forecasting</a:t>
            </a:r>
          </a:p>
        </p:txBody>
      </p:sp>
      <p:sp>
        <p:nvSpPr>
          <p:cNvPr id="81" name="TextBox 80">
            <a:extLst>
              <a:ext uri="{FF2B5EF4-FFF2-40B4-BE49-F238E27FC236}">
                <a16:creationId xmlns:a16="http://schemas.microsoft.com/office/drawing/2014/main" id="{D626ACDF-5B0A-41AB-DB9A-6B368650D5BF}"/>
              </a:ext>
            </a:extLst>
          </p:cNvPr>
          <p:cNvSpPr txBox="1"/>
          <p:nvPr/>
        </p:nvSpPr>
        <p:spPr>
          <a:xfrm>
            <a:off x="3716179" y="682180"/>
            <a:ext cx="3270409" cy="338554"/>
          </a:xfrm>
          <a:prstGeom prst="rect">
            <a:avLst/>
          </a:prstGeom>
          <a:noFill/>
        </p:spPr>
        <p:txBody>
          <a:bodyPr wrap="square" rtlCol="0">
            <a:spAutoFit/>
          </a:bodyPr>
          <a:lstStyle/>
          <a:p>
            <a:r>
              <a:rPr lang="en-IN" sz="1600" b="1" dirty="0"/>
              <a:t>30 Days Forecasting</a:t>
            </a:r>
          </a:p>
        </p:txBody>
      </p:sp>
      <p:sp>
        <p:nvSpPr>
          <p:cNvPr id="82" name="TextBox 81">
            <a:extLst>
              <a:ext uri="{FF2B5EF4-FFF2-40B4-BE49-F238E27FC236}">
                <a16:creationId xmlns:a16="http://schemas.microsoft.com/office/drawing/2014/main" id="{2468FAE0-9EC9-AE29-5A8D-52687505BA71}"/>
              </a:ext>
            </a:extLst>
          </p:cNvPr>
          <p:cNvSpPr txBox="1"/>
          <p:nvPr/>
        </p:nvSpPr>
        <p:spPr>
          <a:xfrm>
            <a:off x="3716179" y="3404162"/>
            <a:ext cx="3270409" cy="338554"/>
          </a:xfrm>
          <a:prstGeom prst="rect">
            <a:avLst/>
          </a:prstGeom>
          <a:noFill/>
        </p:spPr>
        <p:txBody>
          <a:bodyPr wrap="square" rtlCol="0">
            <a:spAutoFit/>
          </a:bodyPr>
          <a:lstStyle/>
          <a:p>
            <a:r>
              <a:rPr lang="en-IN" sz="1600" b="1" dirty="0"/>
              <a:t>90 Days Forecasting</a:t>
            </a:r>
          </a:p>
        </p:txBody>
      </p:sp>
      <p:sp>
        <p:nvSpPr>
          <p:cNvPr id="83" name="Text 9">
            <a:extLst>
              <a:ext uri="{FF2B5EF4-FFF2-40B4-BE49-F238E27FC236}">
                <a16:creationId xmlns:a16="http://schemas.microsoft.com/office/drawing/2014/main" id="{2E1C0294-3597-0DFC-5A55-64825A22258E}"/>
              </a:ext>
            </a:extLst>
          </p:cNvPr>
          <p:cNvSpPr/>
          <p:nvPr/>
        </p:nvSpPr>
        <p:spPr>
          <a:xfrm>
            <a:off x="457200" y="1467611"/>
            <a:ext cx="1783080" cy="594360"/>
          </a:xfrm>
          <a:prstGeom prst="rect">
            <a:avLst/>
          </a:prstGeom>
          <a:noFill/>
          <a:ln/>
        </p:spPr>
        <p:txBody>
          <a:bodyPr wrap="square" rtlCol="0" anchor="ctr"/>
          <a:lstStyle/>
          <a:p>
            <a:pPr marL="0" indent="0">
              <a:buNone/>
            </a:pPr>
            <a:r>
              <a:rPr lang="en-US" sz="2400" b="1" dirty="0">
                <a:solidFill>
                  <a:srgbClr val="0D1B3E"/>
                </a:solidFill>
                <a:latin typeface="Calibri" pitchFamily="34" charset="0"/>
                <a:ea typeface="Calibri" pitchFamily="34" charset="-122"/>
                <a:cs typeface="Calibri" pitchFamily="34" charset="-120"/>
              </a:rPr>
              <a:t>$62,240</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3E"/>
          </a:solidFill>
          <a:ln w="12700">
            <a:solidFill>
              <a:srgbClr val="0D1B3E"/>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Dashboard Features &amp; Architecture</a:t>
            </a:r>
            <a:endParaRPr lang="en-US" sz="2200" dirty="0"/>
          </a:p>
        </p:txBody>
      </p:sp>
      <p:sp>
        <p:nvSpPr>
          <p:cNvPr id="4" name="Shape 2"/>
          <p:cNvSpPr/>
          <p:nvPr/>
        </p:nvSpPr>
        <p:spPr>
          <a:xfrm>
            <a:off x="365760" y="868680"/>
            <a:ext cx="4160520" cy="128016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5" name="Shape 3"/>
          <p:cNvSpPr/>
          <p:nvPr/>
        </p:nvSpPr>
        <p:spPr>
          <a:xfrm>
            <a:off x="365760" y="868680"/>
            <a:ext cx="73152" cy="1280160"/>
          </a:xfrm>
          <a:prstGeom prst="rect">
            <a:avLst/>
          </a:prstGeom>
          <a:solidFill>
            <a:srgbClr val="028090"/>
          </a:solidFill>
          <a:ln w="12700">
            <a:solidFill>
              <a:srgbClr val="028090"/>
            </a:solidFill>
            <a:prstDash val="solid"/>
          </a:ln>
        </p:spPr>
      </p:sp>
      <p:sp>
        <p:nvSpPr>
          <p:cNvPr id="6" name="Text 4"/>
          <p:cNvSpPr/>
          <p:nvPr/>
        </p:nvSpPr>
        <p:spPr>
          <a:xfrm>
            <a:off x="548640" y="1005840"/>
            <a:ext cx="3840480" cy="320040"/>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5 KPI Cards</a:t>
            </a:r>
            <a:endParaRPr lang="en-US" sz="1300" dirty="0"/>
          </a:p>
        </p:txBody>
      </p:sp>
      <p:sp>
        <p:nvSpPr>
          <p:cNvPr id="7" name="Text 5"/>
          <p:cNvSpPr/>
          <p:nvPr/>
        </p:nvSpPr>
        <p:spPr>
          <a:xfrm>
            <a:off x="548640" y="1371600"/>
            <a:ext cx="3840480" cy="65836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Total Revenue · Orders · Total Customers</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(20K) · Active Customers · Avg Order Value</a:t>
            </a:r>
            <a:endParaRPr lang="en-US" sz="1100" dirty="0"/>
          </a:p>
        </p:txBody>
      </p:sp>
      <p:sp>
        <p:nvSpPr>
          <p:cNvPr id="8" name="Shape 6"/>
          <p:cNvSpPr/>
          <p:nvPr/>
        </p:nvSpPr>
        <p:spPr>
          <a:xfrm>
            <a:off x="4800600" y="868680"/>
            <a:ext cx="4160520" cy="128016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9" name="Shape 7"/>
          <p:cNvSpPr/>
          <p:nvPr/>
        </p:nvSpPr>
        <p:spPr>
          <a:xfrm>
            <a:off x="4800600" y="868680"/>
            <a:ext cx="73152" cy="1280160"/>
          </a:xfrm>
          <a:prstGeom prst="rect">
            <a:avLst/>
          </a:prstGeom>
          <a:solidFill>
            <a:srgbClr val="02C39A"/>
          </a:solidFill>
          <a:ln w="12700">
            <a:solidFill>
              <a:srgbClr val="02C39A"/>
            </a:solidFill>
            <a:prstDash val="solid"/>
          </a:ln>
        </p:spPr>
      </p:sp>
      <p:sp>
        <p:nvSpPr>
          <p:cNvPr id="10" name="Text 8"/>
          <p:cNvSpPr/>
          <p:nvPr/>
        </p:nvSpPr>
        <p:spPr>
          <a:xfrm>
            <a:off x="4983480" y="1005840"/>
            <a:ext cx="3840480" cy="320040"/>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Multi-select Filters</a:t>
            </a:r>
            <a:endParaRPr lang="en-US" sz="1300" dirty="0"/>
          </a:p>
        </p:txBody>
      </p:sp>
      <p:sp>
        <p:nvSpPr>
          <p:cNvPr id="11" name="Text 9"/>
          <p:cNvSpPr/>
          <p:nvPr/>
        </p:nvSpPr>
        <p:spPr>
          <a:xfrm>
            <a:off x="4983480" y="1371600"/>
            <a:ext cx="3840480" cy="65836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Filter by Country, Category &amp; Segment</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simultaneously with Select All / Clear</a:t>
            </a:r>
            <a:endParaRPr lang="en-US" sz="1100" dirty="0"/>
          </a:p>
        </p:txBody>
      </p:sp>
      <p:sp>
        <p:nvSpPr>
          <p:cNvPr id="12" name="Shape 10"/>
          <p:cNvSpPr/>
          <p:nvPr/>
        </p:nvSpPr>
        <p:spPr>
          <a:xfrm>
            <a:off x="365760" y="2331720"/>
            <a:ext cx="4160520" cy="128016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13" name="Shape 11"/>
          <p:cNvSpPr/>
          <p:nvPr/>
        </p:nvSpPr>
        <p:spPr>
          <a:xfrm>
            <a:off x="365760" y="2331720"/>
            <a:ext cx="73152" cy="1280160"/>
          </a:xfrm>
          <a:prstGeom prst="rect">
            <a:avLst/>
          </a:prstGeom>
          <a:solidFill>
            <a:srgbClr val="F4A261"/>
          </a:solidFill>
          <a:ln w="12700">
            <a:solidFill>
              <a:srgbClr val="F4A261"/>
            </a:solidFill>
            <a:prstDash val="solid"/>
          </a:ln>
        </p:spPr>
      </p:sp>
      <p:sp>
        <p:nvSpPr>
          <p:cNvPr id="14" name="Text 12"/>
          <p:cNvSpPr/>
          <p:nvPr/>
        </p:nvSpPr>
        <p:spPr>
          <a:xfrm>
            <a:off x="548640" y="2468880"/>
            <a:ext cx="3840480" cy="320040"/>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5 Dashboard Tabs</a:t>
            </a:r>
            <a:endParaRPr lang="en-US" sz="1300" dirty="0"/>
          </a:p>
        </p:txBody>
      </p:sp>
      <p:sp>
        <p:nvSpPr>
          <p:cNvPr id="15" name="Text 13"/>
          <p:cNvSpPr/>
          <p:nvPr/>
        </p:nvSpPr>
        <p:spPr>
          <a:xfrm>
            <a:off x="548640" y="2834640"/>
            <a:ext cx="3840480" cy="65836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Sales Forecast · Segments · Recommendations</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 Top Products · Business Insights</a:t>
            </a:r>
            <a:endParaRPr lang="en-US" sz="1100" dirty="0"/>
          </a:p>
        </p:txBody>
      </p:sp>
      <p:sp>
        <p:nvSpPr>
          <p:cNvPr id="16" name="Shape 14"/>
          <p:cNvSpPr/>
          <p:nvPr/>
        </p:nvSpPr>
        <p:spPr>
          <a:xfrm>
            <a:off x="4800600" y="2331720"/>
            <a:ext cx="4160520" cy="128016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17" name="Shape 15"/>
          <p:cNvSpPr/>
          <p:nvPr/>
        </p:nvSpPr>
        <p:spPr>
          <a:xfrm>
            <a:off x="4800600" y="2331720"/>
            <a:ext cx="73152" cy="1280160"/>
          </a:xfrm>
          <a:prstGeom prst="rect">
            <a:avLst/>
          </a:prstGeom>
          <a:solidFill>
            <a:srgbClr val="E76F51"/>
          </a:solidFill>
          <a:ln w="12700">
            <a:solidFill>
              <a:srgbClr val="E76F51"/>
            </a:solidFill>
            <a:prstDash val="solid"/>
          </a:ln>
        </p:spPr>
      </p:sp>
      <p:sp>
        <p:nvSpPr>
          <p:cNvPr id="18" name="Text 16"/>
          <p:cNvSpPr/>
          <p:nvPr/>
        </p:nvSpPr>
        <p:spPr>
          <a:xfrm>
            <a:off x="4983480" y="2468880"/>
            <a:ext cx="3840480" cy="320040"/>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Prophet Forecast</a:t>
            </a:r>
            <a:endParaRPr lang="en-US" sz="1300" dirty="0"/>
          </a:p>
        </p:txBody>
      </p:sp>
      <p:sp>
        <p:nvSpPr>
          <p:cNvPr id="19" name="Text 17"/>
          <p:cNvSpPr/>
          <p:nvPr/>
        </p:nvSpPr>
        <p:spPr>
          <a:xfrm>
            <a:off x="4983480" y="2834640"/>
            <a:ext cx="3840480" cy="65836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30 / 60 / 90-day selectable horizon</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with ±8% confidence band</a:t>
            </a:r>
            <a:endParaRPr lang="en-US" sz="1100" dirty="0"/>
          </a:p>
        </p:txBody>
      </p:sp>
      <p:sp>
        <p:nvSpPr>
          <p:cNvPr id="20" name="Shape 18"/>
          <p:cNvSpPr/>
          <p:nvPr/>
        </p:nvSpPr>
        <p:spPr>
          <a:xfrm>
            <a:off x="365760" y="3794760"/>
            <a:ext cx="4160520" cy="128016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21" name="Shape 19"/>
          <p:cNvSpPr/>
          <p:nvPr/>
        </p:nvSpPr>
        <p:spPr>
          <a:xfrm>
            <a:off x="365760" y="3794760"/>
            <a:ext cx="73152" cy="1280160"/>
          </a:xfrm>
          <a:prstGeom prst="rect">
            <a:avLst/>
          </a:prstGeom>
          <a:solidFill>
            <a:srgbClr val="028090"/>
          </a:solidFill>
          <a:ln w="12700">
            <a:solidFill>
              <a:srgbClr val="028090"/>
            </a:solidFill>
            <a:prstDash val="solid"/>
          </a:ln>
        </p:spPr>
      </p:sp>
      <p:sp>
        <p:nvSpPr>
          <p:cNvPr id="22" name="Text 20"/>
          <p:cNvSpPr/>
          <p:nvPr/>
        </p:nvSpPr>
        <p:spPr>
          <a:xfrm>
            <a:off x="548640" y="3931920"/>
            <a:ext cx="3840480" cy="320040"/>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Segment Analysis</a:t>
            </a:r>
            <a:endParaRPr lang="en-US" sz="1300" dirty="0"/>
          </a:p>
        </p:txBody>
      </p:sp>
      <p:sp>
        <p:nvSpPr>
          <p:cNvPr id="23" name="Text 21"/>
          <p:cNvSpPr/>
          <p:nvPr/>
        </p:nvSpPr>
        <p:spPr>
          <a:xfrm>
            <a:off x="548640" y="4297680"/>
            <a:ext cx="3840480" cy="65836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4 clean RFM segments — Regular Customers</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excluded, '0' segment removed</a:t>
            </a:r>
            <a:endParaRPr lang="en-US" sz="1100" dirty="0"/>
          </a:p>
        </p:txBody>
      </p:sp>
      <p:sp>
        <p:nvSpPr>
          <p:cNvPr id="24" name="Shape 22"/>
          <p:cNvSpPr/>
          <p:nvPr/>
        </p:nvSpPr>
        <p:spPr>
          <a:xfrm>
            <a:off x="4800600" y="3794760"/>
            <a:ext cx="4160520" cy="128016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25" name="Shape 23"/>
          <p:cNvSpPr/>
          <p:nvPr/>
        </p:nvSpPr>
        <p:spPr>
          <a:xfrm>
            <a:off x="4800600" y="3794760"/>
            <a:ext cx="73152" cy="1280160"/>
          </a:xfrm>
          <a:prstGeom prst="rect">
            <a:avLst/>
          </a:prstGeom>
          <a:solidFill>
            <a:srgbClr val="02C39A"/>
          </a:solidFill>
          <a:ln w="12700">
            <a:solidFill>
              <a:srgbClr val="02C39A"/>
            </a:solidFill>
            <a:prstDash val="solid"/>
          </a:ln>
        </p:spPr>
      </p:sp>
      <p:sp>
        <p:nvSpPr>
          <p:cNvPr id="26" name="Text 24"/>
          <p:cNvSpPr/>
          <p:nvPr/>
        </p:nvSpPr>
        <p:spPr>
          <a:xfrm>
            <a:off x="4983480" y="3931920"/>
            <a:ext cx="3840480" cy="320040"/>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Recommendation Engine</a:t>
            </a:r>
            <a:endParaRPr lang="en-US" sz="1300" dirty="0"/>
          </a:p>
        </p:txBody>
      </p:sp>
      <p:sp>
        <p:nvSpPr>
          <p:cNvPr id="27" name="Text 25"/>
          <p:cNvSpPr/>
          <p:nvPr/>
        </p:nvSpPr>
        <p:spPr>
          <a:xfrm>
            <a:off x="4983480" y="4297680"/>
            <a:ext cx="3840480" cy="65836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Collaborative filtering · product recs</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enriched with name &amp; category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28090"/>
          </a:solidFill>
          <a:ln w="12700">
            <a:solidFill>
              <a:srgbClr val="028090"/>
            </a:solidFill>
            <a:prstDash val="solid"/>
          </a:ln>
        </p:spPr>
      </p:sp>
      <p:sp>
        <p:nvSpPr>
          <p:cNvPr id="3" name="Text 1"/>
          <p:cNvSpPr/>
          <p:nvPr/>
        </p:nvSpPr>
        <p:spPr>
          <a:xfrm>
            <a:off x="594360" y="365760"/>
            <a:ext cx="813816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Key Insights</a:t>
            </a:r>
            <a:endParaRPr lang="en-US" sz="3200" dirty="0"/>
          </a:p>
        </p:txBody>
      </p:sp>
      <p:sp>
        <p:nvSpPr>
          <p:cNvPr id="4" name="Text 2"/>
          <p:cNvSpPr/>
          <p:nvPr/>
        </p:nvSpPr>
        <p:spPr>
          <a:xfrm>
            <a:off x="594360" y="960120"/>
            <a:ext cx="8138160" cy="347472"/>
          </a:xfrm>
          <a:prstGeom prst="rect">
            <a:avLst/>
          </a:prstGeom>
          <a:noFill/>
          <a:ln/>
        </p:spPr>
        <p:txBody>
          <a:bodyPr wrap="square" rtlCol="0" anchor="ctr"/>
          <a:lstStyle/>
          <a:p>
            <a:pPr marL="0" indent="0">
              <a:buNone/>
            </a:pPr>
            <a:r>
              <a:rPr lang="en-US" sz="1400" i="1" dirty="0">
                <a:solidFill>
                  <a:srgbClr val="A0AEC0"/>
                </a:solidFill>
                <a:latin typeface="Calibri" pitchFamily="34" charset="0"/>
                <a:ea typeface="Calibri" pitchFamily="34" charset="-122"/>
                <a:cs typeface="Calibri" pitchFamily="34" charset="-120"/>
              </a:rPr>
              <a:t>Summary of findings from the analytics dashboard</a:t>
            </a:r>
            <a:endParaRPr lang="en-US" sz="1400" dirty="0"/>
          </a:p>
        </p:txBody>
      </p:sp>
      <p:sp>
        <p:nvSpPr>
          <p:cNvPr id="5" name="Shape 3"/>
          <p:cNvSpPr/>
          <p:nvPr/>
        </p:nvSpPr>
        <p:spPr>
          <a:xfrm>
            <a:off x="594360" y="1463040"/>
            <a:ext cx="8229600" cy="566928"/>
          </a:xfrm>
          <a:prstGeom prst="rect">
            <a:avLst/>
          </a:prstGeom>
          <a:solidFill>
            <a:srgbClr val="FFFFFF">
              <a:alpha val="8000"/>
            </a:srgbClr>
          </a:solidFill>
          <a:ln w="12700">
            <a:solidFill>
              <a:srgbClr val="028090"/>
            </a:solidFill>
            <a:prstDash val="solid"/>
          </a:ln>
        </p:spPr>
      </p:sp>
      <p:sp>
        <p:nvSpPr>
          <p:cNvPr id="6" name="Shape 4"/>
          <p:cNvSpPr/>
          <p:nvPr/>
        </p:nvSpPr>
        <p:spPr>
          <a:xfrm>
            <a:off x="594360" y="1463040"/>
            <a:ext cx="64008" cy="566928"/>
          </a:xfrm>
          <a:prstGeom prst="rect">
            <a:avLst/>
          </a:prstGeom>
          <a:solidFill>
            <a:srgbClr val="028090"/>
          </a:solidFill>
          <a:ln w="12700">
            <a:solidFill>
              <a:srgbClr val="028090"/>
            </a:solidFill>
            <a:prstDash val="solid"/>
          </a:ln>
        </p:spPr>
      </p:sp>
      <p:sp>
        <p:nvSpPr>
          <p:cNvPr id="7" name="Text 5"/>
          <p:cNvSpPr/>
          <p:nvPr/>
        </p:nvSpPr>
        <p:spPr>
          <a:xfrm>
            <a:off x="777240" y="1508760"/>
            <a:ext cx="2560320" cy="256032"/>
          </a:xfrm>
          <a:prstGeom prst="rect">
            <a:avLst/>
          </a:prstGeom>
          <a:noFill/>
          <a:ln/>
        </p:spPr>
        <p:txBody>
          <a:bodyPr wrap="square" lIns="0" tIns="0" rIns="0" bIns="0"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Top Revenue Country</a:t>
            </a:r>
            <a:endParaRPr lang="en-US" sz="1200" dirty="0"/>
          </a:p>
        </p:txBody>
      </p:sp>
      <p:sp>
        <p:nvSpPr>
          <p:cNvPr id="8" name="Text 6"/>
          <p:cNvSpPr/>
          <p:nvPr/>
        </p:nvSpPr>
        <p:spPr>
          <a:xfrm>
            <a:off x="777240" y="1737360"/>
            <a:ext cx="786384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United States — $823,420 (18.3% of total revenue)</a:t>
            </a:r>
            <a:endParaRPr lang="en-US" sz="1100" dirty="0"/>
          </a:p>
        </p:txBody>
      </p:sp>
      <p:sp>
        <p:nvSpPr>
          <p:cNvPr id="9" name="Shape 7"/>
          <p:cNvSpPr/>
          <p:nvPr/>
        </p:nvSpPr>
        <p:spPr>
          <a:xfrm>
            <a:off x="594360" y="2167128"/>
            <a:ext cx="8229600" cy="566928"/>
          </a:xfrm>
          <a:prstGeom prst="rect">
            <a:avLst/>
          </a:prstGeom>
          <a:solidFill>
            <a:srgbClr val="FFFFFF">
              <a:alpha val="8000"/>
            </a:srgbClr>
          </a:solidFill>
          <a:ln w="12700">
            <a:solidFill>
              <a:srgbClr val="F4A261"/>
            </a:solidFill>
            <a:prstDash val="solid"/>
          </a:ln>
        </p:spPr>
      </p:sp>
      <p:sp>
        <p:nvSpPr>
          <p:cNvPr id="10" name="Shape 8"/>
          <p:cNvSpPr/>
          <p:nvPr/>
        </p:nvSpPr>
        <p:spPr>
          <a:xfrm>
            <a:off x="594360" y="2167128"/>
            <a:ext cx="64008" cy="566928"/>
          </a:xfrm>
          <a:prstGeom prst="rect">
            <a:avLst/>
          </a:prstGeom>
          <a:solidFill>
            <a:srgbClr val="F4A261"/>
          </a:solidFill>
          <a:ln w="12700">
            <a:solidFill>
              <a:srgbClr val="F4A261"/>
            </a:solidFill>
            <a:prstDash val="solid"/>
          </a:ln>
        </p:spPr>
      </p:sp>
      <p:sp>
        <p:nvSpPr>
          <p:cNvPr id="11" name="Text 9"/>
          <p:cNvSpPr/>
          <p:nvPr/>
        </p:nvSpPr>
        <p:spPr>
          <a:xfrm>
            <a:off x="777240" y="2212848"/>
            <a:ext cx="2560320" cy="256032"/>
          </a:xfrm>
          <a:prstGeom prst="rect">
            <a:avLst/>
          </a:prstGeom>
          <a:noFill/>
          <a:ln/>
        </p:spPr>
        <p:txBody>
          <a:bodyPr wrap="square" lIns="0" tIns="0" rIns="0" bIns="0"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Top Revenue Product</a:t>
            </a:r>
            <a:endParaRPr lang="en-US" sz="1200" dirty="0"/>
          </a:p>
        </p:txBody>
      </p:sp>
      <p:sp>
        <p:nvSpPr>
          <p:cNvPr id="12" name="Text 10"/>
          <p:cNvSpPr/>
          <p:nvPr/>
        </p:nvSpPr>
        <p:spPr>
          <a:xfrm>
            <a:off x="777240" y="2441448"/>
            <a:ext cx="786384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Mouse Rosybrown 419 — $9,152 (Electronics)</a:t>
            </a:r>
            <a:endParaRPr lang="en-US" sz="1100" dirty="0"/>
          </a:p>
        </p:txBody>
      </p:sp>
      <p:sp>
        <p:nvSpPr>
          <p:cNvPr id="13" name="Shape 11"/>
          <p:cNvSpPr/>
          <p:nvPr/>
        </p:nvSpPr>
        <p:spPr>
          <a:xfrm>
            <a:off x="594360" y="2871216"/>
            <a:ext cx="8229600" cy="566928"/>
          </a:xfrm>
          <a:prstGeom prst="rect">
            <a:avLst/>
          </a:prstGeom>
          <a:solidFill>
            <a:srgbClr val="FFFFFF">
              <a:alpha val="8000"/>
            </a:srgbClr>
          </a:solidFill>
          <a:ln w="12700">
            <a:solidFill>
              <a:srgbClr val="02C39A"/>
            </a:solidFill>
            <a:prstDash val="solid"/>
          </a:ln>
        </p:spPr>
      </p:sp>
      <p:sp>
        <p:nvSpPr>
          <p:cNvPr id="14" name="Shape 12"/>
          <p:cNvSpPr/>
          <p:nvPr/>
        </p:nvSpPr>
        <p:spPr>
          <a:xfrm>
            <a:off x="594360" y="2871216"/>
            <a:ext cx="64008" cy="566928"/>
          </a:xfrm>
          <a:prstGeom prst="rect">
            <a:avLst/>
          </a:prstGeom>
          <a:solidFill>
            <a:srgbClr val="02C39A"/>
          </a:solidFill>
          <a:ln w="12700">
            <a:solidFill>
              <a:srgbClr val="02C39A"/>
            </a:solidFill>
            <a:prstDash val="solid"/>
          </a:ln>
        </p:spPr>
      </p:sp>
      <p:sp>
        <p:nvSpPr>
          <p:cNvPr id="15" name="Text 13"/>
          <p:cNvSpPr/>
          <p:nvPr/>
        </p:nvSpPr>
        <p:spPr>
          <a:xfrm>
            <a:off x="777240" y="2916936"/>
            <a:ext cx="2560320" cy="256032"/>
          </a:xfrm>
          <a:prstGeom prst="rect">
            <a:avLst/>
          </a:prstGeom>
          <a:noFill/>
          <a:ln/>
        </p:spPr>
        <p:txBody>
          <a:bodyPr wrap="square" lIns="0" tIns="0" rIns="0" bIns="0"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Top Revenue Category</a:t>
            </a:r>
            <a:endParaRPr lang="en-US" sz="1200" dirty="0"/>
          </a:p>
        </p:txBody>
      </p:sp>
      <p:sp>
        <p:nvSpPr>
          <p:cNvPr id="16" name="Text 14"/>
          <p:cNvSpPr/>
          <p:nvPr/>
        </p:nvSpPr>
        <p:spPr>
          <a:xfrm>
            <a:off x="777240" y="3145536"/>
            <a:ext cx="786384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Home &amp; Kitchen — $781,434, ahead of Sports &amp; Fashion</a:t>
            </a:r>
            <a:endParaRPr lang="en-US" sz="1100" dirty="0"/>
          </a:p>
        </p:txBody>
      </p:sp>
      <p:sp>
        <p:nvSpPr>
          <p:cNvPr id="17" name="Shape 15"/>
          <p:cNvSpPr/>
          <p:nvPr/>
        </p:nvSpPr>
        <p:spPr>
          <a:xfrm>
            <a:off x="594360" y="3575304"/>
            <a:ext cx="8229600" cy="566928"/>
          </a:xfrm>
          <a:prstGeom prst="rect">
            <a:avLst/>
          </a:prstGeom>
          <a:solidFill>
            <a:srgbClr val="FFFFFF">
              <a:alpha val="8000"/>
            </a:srgbClr>
          </a:solidFill>
          <a:ln w="12700">
            <a:solidFill>
              <a:srgbClr val="E76F51"/>
            </a:solidFill>
            <a:prstDash val="solid"/>
          </a:ln>
        </p:spPr>
      </p:sp>
      <p:sp>
        <p:nvSpPr>
          <p:cNvPr id="18" name="Shape 16"/>
          <p:cNvSpPr/>
          <p:nvPr/>
        </p:nvSpPr>
        <p:spPr>
          <a:xfrm>
            <a:off x="594360" y="3575304"/>
            <a:ext cx="64008" cy="566928"/>
          </a:xfrm>
          <a:prstGeom prst="rect">
            <a:avLst/>
          </a:prstGeom>
          <a:solidFill>
            <a:srgbClr val="E76F51"/>
          </a:solidFill>
          <a:ln w="12700">
            <a:solidFill>
              <a:srgbClr val="E76F51"/>
            </a:solidFill>
            <a:prstDash val="solid"/>
          </a:ln>
        </p:spPr>
      </p:sp>
      <p:sp>
        <p:nvSpPr>
          <p:cNvPr id="19" name="Text 17"/>
          <p:cNvSpPr/>
          <p:nvPr/>
        </p:nvSpPr>
        <p:spPr>
          <a:xfrm>
            <a:off x="777240" y="3621024"/>
            <a:ext cx="2560320" cy="256032"/>
          </a:xfrm>
          <a:prstGeom prst="rect">
            <a:avLst/>
          </a:prstGeom>
          <a:noFill/>
          <a:ln/>
        </p:spPr>
        <p:txBody>
          <a:bodyPr wrap="square" lIns="0" tIns="0" rIns="0" bIns="0"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Highest Revenue Segment</a:t>
            </a:r>
            <a:endParaRPr lang="en-US" sz="1200" dirty="0"/>
          </a:p>
        </p:txBody>
      </p:sp>
      <p:sp>
        <p:nvSpPr>
          <p:cNvPr id="20" name="Text 18"/>
          <p:cNvSpPr/>
          <p:nvPr/>
        </p:nvSpPr>
        <p:spPr>
          <a:xfrm>
            <a:off x="777240" y="3849624"/>
            <a:ext cx="786384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High-value loyal customers — $1,975,934 (44% of revenue)</a:t>
            </a:r>
            <a:endParaRPr lang="en-US" sz="1100" dirty="0"/>
          </a:p>
        </p:txBody>
      </p:sp>
      <p:sp>
        <p:nvSpPr>
          <p:cNvPr id="21" name="Shape 19"/>
          <p:cNvSpPr/>
          <p:nvPr/>
        </p:nvSpPr>
        <p:spPr>
          <a:xfrm>
            <a:off x="594360" y="4279392"/>
            <a:ext cx="8229600" cy="566928"/>
          </a:xfrm>
          <a:prstGeom prst="rect">
            <a:avLst/>
          </a:prstGeom>
          <a:solidFill>
            <a:srgbClr val="FFFFFF">
              <a:alpha val="8000"/>
            </a:srgbClr>
          </a:solidFill>
          <a:ln w="12700">
            <a:solidFill>
              <a:srgbClr val="028090"/>
            </a:solidFill>
            <a:prstDash val="solid"/>
          </a:ln>
        </p:spPr>
      </p:sp>
      <p:sp>
        <p:nvSpPr>
          <p:cNvPr id="22" name="Shape 20"/>
          <p:cNvSpPr/>
          <p:nvPr/>
        </p:nvSpPr>
        <p:spPr>
          <a:xfrm>
            <a:off x="594360" y="4279392"/>
            <a:ext cx="64008" cy="566928"/>
          </a:xfrm>
          <a:prstGeom prst="rect">
            <a:avLst/>
          </a:prstGeom>
          <a:solidFill>
            <a:srgbClr val="028090"/>
          </a:solidFill>
          <a:ln w="12700">
            <a:solidFill>
              <a:srgbClr val="028090"/>
            </a:solidFill>
            <a:prstDash val="solid"/>
          </a:ln>
        </p:spPr>
      </p:sp>
      <p:sp>
        <p:nvSpPr>
          <p:cNvPr id="23" name="Text 21"/>
          <p:cNvSpPr/>
          <p:nvPr/>
        </p:nvSpPr>
        <p:spPr>
          <a:xfrm>
            <a:off x="777240" y="4325112"/>
            <a:ext cx="2560320" cy="256032"/>
          </a:xfrm>
          <a:prstGeom prst="rect">
            <a:avLst/>
          </a:prstGeom>
          <a:noFill/>
          <a:ln/>
        </p:spPr>
        <p:txBody>
          <a:bodyPr wrap="square" lIns="0" tIns="0" rIns="0" bIns="0"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Monthly Growth</a:t>
            </a:r>
            <a:endParaRPr lang="en-US" sz="1200" dirty="0"/>
          </a:p>
        </p:txBody>
      </p:sp>
      <p:sp>
        <p:nvSpPr>
          <p:cNvPr id="24" name="Text 22"/>
          <p:cNvSpPr/>
          <p:nvPr/>
        </p:nvSpPr>
        <p:spPr>
          <a:xfrm>
            <a:off x="777240" y="4553712"/>
            <a:ext cx="786384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Average 0.75% month-over-month revenue growth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TotalTime>
  <Words>937</Words>
  <Application>Microsoft Office PowerPoint</Application>
  <PresentationFormat>On-screen Show (16:9)</PresentationFormat>
  <Paragraphs>223</Paragraphs>
  <Slides>12</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Revenue Growth &amp; Personalization Analytics Dashboard</dc:title>
  <dc:subject>PptxGenJS Presentation</dc:subject>
  <dc:creator>Sahil</dc:creator>
  <cp:lastModifiedBy>Sahil Mulani</cp:lastModifiedBy>
  <cp:revision>5</cp:revision>
  <dcterms:created xsi:type="dcterms:W3CDTF">2026-03-15T10:41:08Z</dcterms:created>
  <dcterms:modified xsi:type="dcterms:W3CDTF">2026-03-15T19:47:14Z</dcterms:modified>
</cp:coreProperties>
</file>